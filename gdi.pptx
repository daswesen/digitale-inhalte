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10" Type="http://schemas.openxmlformats.org/officeDocument/2006/relationships/viewProps" Target="viewProps.xml" /><Relationship Id="rId10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2" Type="http://schemas.openxmlformats.org/officeDocument/2006/relationships/tableStyles" Target="tableStyles.xml" /><Relationship Id="rId1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Konzeption Digitaler Inhalte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Tom Alby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1: Einführung, Organisatorisches und Grundlage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Prozesse und Strukturen in der Informations- und Medienwirtschaft implementieren und Digital-Produkte entwickeln, indem sie</a:t>
            </a:r>
          </a:p>
          <a:p>
            <a:pPr lvl="0"/>
            <a:r>
              <a:rPr/>
              <a:t>digitale Inhalte, Daten- und Medienprodukte sowie interaktive Darstellungsformen beispielsweise mit Methoden der User Experience konzipieren und realisieren,</a:t>
            </a:r>
          </a:p>
          <a:p>
            <a:pPr lvl="0"/>
            <a:r>
              <a:rPr/>
              <a:t>um innovative Gestaltungsformate zu etablieren und damit Zielgruppen überprüfbar zu erreichen.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digitale Transformation verantwortungsbewusst und adressatengerecht gestalten, indem sie</a:t>
            </a:r>
          </a:p>
          <a:p>
            <a:pPr lvl="0"/>
            <a:r>
              <a:rPr/>
              <a:t>Prozesse und Strukturen in der Informations- und Medienwirtschaft implementieren und digitale Produkte konzipieren und entwickeln;</a:t>
            </a:r>
          </a:p>
          <a:p>
            <a:pPr lvl="0"/>
            <a:r>
              <a:rPr/>
              <a:t>Informationen, Inhalte und Datenbestände erschließen, kuratieren, aufbereiten, lizenzieren und publizieren;</a:t>
            </a:r>
          </a:p>
          <a:p>
            <a:pPr lvl="0"/>
            <a:r>
              <a:rPr/>
              <a:t>Daten, digitale Medien und Technologien zielgruppenspezifisch vermitteln und kommunizieren.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Kursziele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 von Daten: Unterschied zwischen Daten, Informationen und Erkenntnissen verstehen und digitale Inhalte daran ausrichten.</a:t>
            </a:r>
          </a:p>
          <a:p>
            <a:pPr lvl="0"/>
            <a:r>
              <a:rPr/>
              <a:t>Personalisierung und Empfehlung: Sie wenden einfache Segmentierungs‑ und Assoziationsverfahren an, um Inhalte zielgruppenspezifisch zu empfehlen.</a:t>
            </a:r>
          </a:p>
          <a:p>
            <a:pPr lvl="0"/>
            <a:r>
              <a:rPr/>
              <a:t>Erfolgsüberprüfung: Sie definieren und überprüfen relevante KPIs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Prüfungsleistung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Prüfungsleistung: 20‑minütiges Referat (mündliche Prüfung) und/oder 3–5‑seitiger Kurzbericht (schriftliche Prüfung): Segmentierung einer Zielgruppe auf Basis von Daten, Konzept eines Datenprodukts, Erfolgsdefinition und -Reportingkonzept.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Teilnahme online möglich, keine Aufzeichnung</a:t>
            </a:r>
          </a:p>
          <a:p>
            <a:pPr lvl="0"/>
            <a:r>
              <a:rPr/>
              <a:t>Moodle Einschreibepasswort: CommanderData!</a:t>
            </a:r>
          </a:p>
          <a:p>
            <a:pPr lvl="0"/>
            <a:r>
              <a:rPr/>
              <a:t>ChatGPT &amp; Co sind ausdrücklich erlaubt, aber Sie müssen das Protokoll teilen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digitale Inhalte, Daten- und Medienprodukte?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“innovative Gestaltungsformate”?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 “überprüfbar erreichen”?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“Prozesse und Strukturen in der Informations- und Medienwirtschaft implementieren und digitale Produkte konzipieren und entwickeln”?</a:t>
            </a:r>
          </a:p>
          <a:p>
            <a:pPr lvl="0"/>
            <a:r>
              <a:rPr/>
              <a:t>“Informationen, Inhalte und Datenbestände erschließen, kuratieren, aufbereiten, lizenzieren und publizieren”?</a:t>
            </a:r>
          </a:p>
          <a:p>
            <a:pPr lvl="0"/>
            <a:r>
              <a:rPr/>
              <a:t>“Daten, digitale Medien und Technologien zielgruppenspezifisch vermitteln und kommunizieren”?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sind Daten überhaupt?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Daten</a:t>
            </a:r>
          </a:p>
          <a:p>
            <a:pPr lvl="1"/>
            <a:r>
              <a:rPr/>
              <a:t>Roh, ungeordnet, noch nicht interpretiert</a:t>
            </a:r>
          </a:p>
          <a:p>
            <a:pPr lvl="1"/>
            <a:r>
              <a:rPr/>
              <a:t>Bestehen aus Zahlen, Zeichen, Fakten ohne Kontext</a:t>
            </a:r>
          </a:p>
          <a:p>
            <a:pPr lvl="0"/>
            <a:r>
              <a:rPr i="1"/>
              <a:t>Informationen</a:t>
            </a:r>
          </a:p>
          <a:p>
            <a:pPr lvl="1"/>
            <a:r>
              <a:rPr/>
              <a:t>Verarbeitete, kontextualisierte Daten</a:t>
            </a:r>
          </a:p>
          <a:p>
            <a:pPr lvl="1"/>
            <a:r>
              <a:rPr/>
              <a:t>Haben Bedeutung und Relevanz für eine Fragestellung</a:t>
            </a:r>
          </a:p>
          <a:p>
            <a:pPr lvl="1"/>
            <a:r>
              <a:rPr b="1"/>
              <a:t>Daten + Kontext = Information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Datenkompetenz nach Ridsdale et al</a:t>
            </a:r>
          </a:p>
        </p:txBody>
      </p:sp>
      <p:pic>
        <p:nvPicPr>
          <p:cNvPr descr="images/Ridsda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DIKW-Pyramide</a:t>
            </a:r>
          </a:p>
        </p:txBody>
      </p:sp>
      <p:pic>
        <p:nvPicPr>
          <p:cNvPr descr="images/dikw-pyramid-removebg-pre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193800"/>
            <a:ext cx="4013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Toms Pyramide</a:t>
            </a:r>
          </a:p>
        </p:txBody>
      </p:sp>
      <p:pic>
        <p:nvPicPr>
          <p:cNvPr descr="images/tatt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Relevanz in der Aufmerksamkeitsökonomie</a:t>
            </a:r>
          </a:p>
        </p:txBody>
      </p:sp>
      <p:pic>
        <p:nvPicPr>
          <p:cNvPr descr="images/relev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können wir Daten nutzen, um Relevanz zu erzeugen?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Aufmerksamkeit als knappes Gut</a:t>
            </a:r>
            <a:r>
              <a:rPr/>
              <a:t>: In der „Attention Economy“ zahlen Nutzer*innen mit ihrer Aufmerksamkeit; Informationsüberflutung erfordert filternde Mechanismen.</a:t>
            </a:r>
          </a:p>
          <a:p>
            <a:pPr lvl="0"/>
            <a:r>
              <a:rPr b="1"/>
              <a:t>Data Mining als Brücke</a:t>
            </a:r>
            <a:r>
              <a:rPr/>
              <a:t>: Data Mining extrahiert Muster und Korrelationen aus großen Datenmengen, um relevante Informationen zu erzeugen.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Beispiel: Newsletter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Was ist das Ziel/sind die Ziele eines Newsletters?</a:t>
            </a:r>
          </a:p>
          <a:p>
            <a:pPr lvl="0"/>
            <a:r>
              <a:rPr/>
              <a:t>Was sind mögliche KPIs?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funktioniert Data Mining?</a:t>
            </a:r>
          </a:p>
        </p:txBody>
      </p:sp>
      <p:pic>
        <p:nvPicPr>
          <p:cNvPr descr="images/CRISP-DM_Process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1193800"/>
            <a:ext cx="337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Mining-Sprachen und -Systeme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SPSS / PSPP</a:t>
            </a:r>
          </a:p>
          <a:p>
            <a:pPr lvl="0"/>
            <a:r>
              <a:rPr/>
              <a:t>SAS</a:t>
            </a:r>
          </a:p>
          <a:p>
            <a:pPr lvl="0"/>
            <a:r>
              <a:rPr/>
              <a:t>Python</a:t>
            </a:r>
          </a:p>
          <a:p>
            <a:pPr lvl="0"/>
            <a:r>
              <a:rPr/>
              <a:t>Scala</a:t>
            </a:r>
          </a:p>
          <a:p>
            <a:pPr lvl="0"/>
            <a:r>
              <a:rPr/>
              <a:t>Julia</a:t>
            </a:r>
          </a:p>
          <a:p>
            <a:pPr lvl="0"/>
            <a:r>
              <a:rPr/>
              <a:t>R</a:t>
            </a:r>
          </a:p>
          <a:p>
            <a:pPr lvl="0"/>
            <a:r>
              <a:rPr/>
              <a:t>Knime</a:t>
            </a:r>
          </a:p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Welche Inhalte wünschen Sie sich noch?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2: Daten-Akquise und -Überprüfung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Primärdaten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Interviews</a:t>
            </a:r>
          </a:p>
          <a:p>
            <a:pPr lvl="0"/>
            <a:r>
              <a:rPr/>
              <a:t>Umfragen</a:t>
            </a:r>
          </a:p>
          <a:p>
            <a:pPr lvl="0"/>
            <a:r>
              <a:rPr/>
              <a:t>Experimente / Messungen</a:t>
            </a:r>
          </a:p>
          <a:p>
            <a:pPr lvl="0"/>
            <a:r>
              <a:rPr/>
              <a:t>Tracking (eigene Tools oder Tools Dritter)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Sekundärdaten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Statistisches Bundesamt</a:t>
            </a:r>
          </a:p>
          <a:p>
            <a:pPr lvl="0"/>
            <a:r>
              <a:rPr/>
              <a:t>GfK, Brandindex, Statista</a:t>
            </a:r>
          </a:p>
          <a:p>
            <a:pPr lvl="0"/>
            <a:r>
              <a:rPr/>
              <a:t>Open-Data-Portale</a:t>
            </a:r>
          </a:p>
          <a:p>
            <a:pPr lvl="0"/>
            <a:r>
              <a:rPr/>
              <a:t>Google-Tools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Fragen zur Datenqualität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 hat die Daten erhoben?</a:t>
            </a:r>
          </a:p>
          <a:p>
            <a:pPr lvl="0"/>
            <a:r>
              <a:rPr/>
              <a:t>Zu welchem Zweck?</a:t>
            </a:r>
          </a:p>
          <a:p>
            <a:pPr lvl="0"/>
            <a:r>
              <a:rPr/>
              <a:t>Ist die Stichprobe repräsentativ?</a:t>
            </a:r>
          </a:p>
          <a:p>
            <a:pPr lvl="0"/>
            <a:r>
              <a:rPr/>
              <a:t>Sind die Variablen klar definiert?</a:t>
            </a:r>
          </a:p>
          <a:p>
            <a:pPr lvl="0"/>
            <a:r>
              <a:rPr/>
              <a:t>Sind die Befragten voreingenommen?</a:t>
            </a:r>
          </a:p>
          <a:p>
            <a:pPr lvl="0"/>
            <a:r>
              <a:rPr/>
              <a:t>Wie zuverlässig (reliabel) und gültig (valide) sind die Messungen?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Reliabilität &amp; Validität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Reliabilität</a:t>
            </a:r>
            <a:br/>
            <a:r>
              <a:rPr/>
              <a:t>- Misst das Instrument konsistent?</a:t>
            </a:r>
            <a:br/>
            <a:r>
              <a:rPr/>
              <a:t>- Beispiel: Wiederholte Befragung führt zu ähnlichen Ergebnissen.</a:t>
            </a:r>
          </a:p>
          <a:p>
            <a:pPr lvl="0" indent="0" marL="0">
              <a:buNone/>
            </a:pPr>
            <a:r>
              <a:rPr b="1"/>
              <a:t>Validität</a:t>
            </a:r>
            <a:br/>
            <a:r>
              <a:rPr/>
              <a:t>- Misst das Instrument, was es messen soll?</a:t>
            </a:r>
            <a:br/>
            <a:r>
              <a:rPr/>
              <a:t>- Beispiel: „Zufriedenheit“ darf nicht nur mit „Häufigkeit der Nutzung“ gleichgesetzt werden.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Häufige Probleme bei Stichproben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Convenience Sampling:</a:t>
            </a:r>
            <a:r>
              <a:rPr/>
              <a:t> Auswahl der Personen, die leicht erreichbar sind – aber nicht repräsentativ.</a:t>
            </a:r>
          </a:p>
          <a:p>
            <a:pPr lvl="0"/>
            <a:r>
              <a:rPr b="1"/>
              <a:t>Non-Response-Bias:</a:t>
            </a:r>
            <a:r>
              <a:rPr/>
              <a:t> Bestimmte Gruppen nehmen systematisch nicht teil.</a:t>
            </a:r>
          </a:p>
          <a:p>
            <a:pPr lvl="0"/>
            <a:r>
              <a:rPr b="1"/>
              <a:t>Kulturelle Antwortverzerrung:</a:t>
            </a:r>
            <a:r>
              <a:rPr/>
              <a:t> Ein „Nein“ ist in manchen Kulturen sozial unerwünscht.</a:t>
            </a:r>
          </a:p>
          <a:p>
            <a:pPr lvl="0"/>
            <a:r>
              <a:rPr b="1"/>
              <a:t>Soziale Erwünschtheit:</a:t>
            </a:r>
            <a:r>
              <a:rPr/>
              <a:t> Menschen geben Antworten, die gut klingen – nicht unbedingt die Wahrheit.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Website-Umfrage</a:t>
            </a:r>
          </a:p>
        </p:txBody>
      </p:sp>
      <p:pic>
        <p:nvPicPr>
          <p:cNvPr descr="images/hp-umfrage-websi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08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Umfrage vor Weiterleitung</a:t>
            </a:r>
          </a:p>
        </p:txBody>
      </p:sp>
      <p:pic>
        <p:nvPicPr>
          <p:cNvPr descr="images/google-umfr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87700" y="1193800"/>
            <a:ext cx="275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Soziale Erwünschtheit</a:t>
            </a:r>
          </a:p>
        </p:txBody>
      </p:sp>
      <p:pic>
        <p:nvPicPr>
          <p:cNvPr descr="images/adblock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9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Glauben Sie das?</a:t>
            </a:r>
          </a:p>
        </p:txBody>
      </p:sp>
      <p:pic>
        <p:nvPicPr>
          <p:cNvPr descr="images/b4p_Fake_News_gallery11-768x54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waren die Fragen eigentlich gestellt?</a:t>
            </a:r>
          </a:p>
        </p:txBody>
      </p:sp>
      <p:pic>
        <p:nvPicPr>
          <p:cNvPr descr="images/b4p-frag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kommt es zu dem Ergebnis?</a:t>
            </a:r>
          </a:p>
        </p:txBody>
      </p:sp>
      <p:pic>
        <p:nvPicPr>
          <p:cNvPr descr="images/b4p-dat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367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Beispiele für Umfrageverzerrungen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Beschreibung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zuzustimmen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abzulehnen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Middle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neutraler Antwortoptionen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Response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Überrationalisiertes Antworten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Convenience Sampling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leicht erreichbarer Personen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typische Verzerrungen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Recall Bias:</a:t>
            </a:r>
            <a:r>
              <a:rPr/>
              <a:t> Falsche Erinnerung bei retrospektiven Fragen.</a:t>
            </a:r>
          </a:p>
          <a:p>
            <a:pPr lvl="0"/>
            <a:r>
              <a:rPr b="1"/>
              <a:t>Survivorship Bias:</a:t>
            </a:r>
            <a:r>
              <a:rPr/>
              <a:t> Nur „Überlebende“ werden betrachtet, z. B. erfolgreiche Start-ups.</a:t>
            </a:r>
          </a:p>
          <a:p>
            <a:pPr lvl="0"/>
            <a:r>
              <a:rPr b="1"/>
              <a:t>Algorithmic Bias:</a:t>
            </a:r>
            <a:r>
              <a:rPr/>
              <a:t> Verzerrte Trainingsdaten führen zu unfairen Modellen.</a:t>
            </a:r>
          </a:p>
          <a:p>
            <a:pPr lvl="0"/>
            <a:r>
              <a:rPr b="1"/>
              <a:t>Availability Bias:</a:t>
            </a:r>
            <a:r>
              <a:rPr/>
              <a:t> Häufig Gehörtes wird überschätzt.</a:t>
            </a:r>
          </a:p>
          <a:p>
            <a:pPr lvl="0"/>
            <a:r>
              <a:rPr b="1"/>
              <a:t>Confirmation Bias:</a:t>
            </a:r>
            <a:r>
              <a:rPr/>
              <a:t> Suche nach bestätigenden Informationen.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Bestätigungsfehler (Confirmation Bias)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Wir suchen bevorzugt nach Daten, die unsere Meinung </a:t>
            </a:r>
            <a:r>
              <a:rPr b="1"/>
              <a:t>bestätigen</a:t>
            </a:r>
            <a:r>
              <a:rPr/>
              <a:t>.</a:t>
            </a:r>
          </a:p>
          <a:p>
            <a:pPr lvl="0"/>
            <a:r>
              <a:rPr/>
              <a:t>Widersprüchliche Daten werden ignoriert</a:t>
            </a:r>
          </a:p>
          <a:p>
            <a:pPr lvl="0"/>
            <a:r>
              <a:rPr/>
              <a:t>Unterstützende Daten werden überbewertet</a:t>
            </a:r>
          </a:p>
          <a:p>
            <a:pPr lvl="0"/>
            <a:r>
              <a:rPr/>
              <a:t>„Cherry Picking“ bei der Datenauswahl</a:t>
            </a:r>
          </a:p>
          <a:p>
            <a:pPr lvl="0" indent="0" marL="0">
              <a:buNone/>
            </a:pPr>
            <a:r>
              <a:rPr b="1"/>
              <a:t>Das größte Risiko für Verzerrung sind wir selbst.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pic>
        <p:nvPicPr>
          <p:cNvPr descr="images/Survivorship-bias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4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(Verzerrung zugunsten der Überlebenden)</a:t>
            </a:r>
          </a:p>
          <a:p>
            <a:pPr lvl="0"/>
            <a:r>
              <a:rPr/>
              <a:t>Wir sehen nur die „Überlebenden“ – also erfolgreiche Fälle</a:t>
            </a:r>
          </a:p>
          <a:p>
            <a:pPr lvl="0"/>
            <a:r>
              <a:rPr/>
              <a:t>Gescheiterte Beispiele fehlen in den Daten</a:t>
            </a:r>
          </a:p>
          <a:p>
            <a:pPr lvl="0"/>
            <a:r>
              <a:rPr/>
              <a:t>Führt zu falschen Schlussfolgerungen über Erfolg</a:t>
            </a:r>
          </a:p>
          <a:p>
            <a:pPr lvl="0" indent="0" marL="0">
              <a:buNone/>
            </a:pPr>
            <a:r>
              <a:rPr i="1"/>
              <a:t>Beispiel:</a:t>
            </a:r>
            <a:r>
              <a:rPr/>
              <a:t> Analyse erfolgreicher Start-ups ohne Berücksichtigung der gescheiterten.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Ottenser_Hauptstraß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21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pintere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57400"/>
            <a:ext cx="8229600" cy="166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Der Fehler der </a:t>
            </a:r>
            <a:r>
              <a:rPr i="1"/>
              <a:t>Literary Digest</a:t>
            </a:r>
            <a:r>
              <a:rPr/>
              <a:t>-Umfrage (1936)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Befragte Leser, Auto- und Telefonbesitzer</a:t>
            </a:r>
          </a:p>
          <a:p>
            <a:pPr lvl="0"/>
            <a:r>
              <a:rPr/>
              <a:t>Ergebnis: Landon gewinnt gegen Roosevelt</a:t>
            </a:r>
          </a:p>
          <a:p>
            <a:pPr lvl="0"/>
            <a:r>
              <a:rPr/>
              <a:t>Realität: Roosevelt siegte deutlich</a:t>
            </a:r>
          </a:p>
          <a:p>
            <a:pPr lvl="0"/>
            <a:r>
              <a:rPr/>
              <a:t>Ursache: </a:t>
            </a:r>
            <a:r>
              <a:rPr b="1"/>
              <a:t>Selection Bias</a:t>
            </a:r>
            <a:r>
              <a:rPr/>
              <a:t> – wohlhabende Befragte waren überrepräsentiert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Systematische Abweichung durch fehlerhafte Auswahl</a:t>
            </a:r>
          </a:p>
          <a:p>
            <a:pPr lvl="0"/>
            <a:r>
              <a:rPr/>
              <a:t>Auch große Stichproben helfen nicht, wenn sie nicht zufällig sind</a:t>
            </a:r>
          </a:p>
          <a:p>
            <a:pPr lvl="0"/>
            <a:r>
              <a:rPr/>
              <a:t>Beispiel: Online-Umfragen erreichen nur digital affine Personen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Kritische Prüfung von Datenquellen und Methoden</a:t>
            </a:r>
          </a:p>
          <a:p>
            <a:pPr lvl="0"/>
            <a:r>
              <a:rPr/>
              <a:t>Kombination mehrerer Quellen (Triangulation)</a:t>
            </a:r>
          </a:p>
          <a:p>
            <a:pPr lvl="0"/>
            <a:r>
              <a:rPr/>
              <a:t>Dokumentation der Stichprobenverfahren</a:t>
            </a:r>
          </a:p>
          <a:p>
            <a:pPr lvl="0"/>
            <a:r>
              <a:rPr/>
              <a:t>Qualitative Validierung der Ergebnisse</a:t>
            </a:r>
          </a:p>
          <a:p>
            <a:pPr lvl="0"/>
            <a:r>
              <a:rPr/>
              <a:t>Randomisierung oder Stratifizierung</a:t>
            </a:r>
          </a:p>
          <a:p>
            <a:pPr lvl="0"/>
            <a:r>
              <a:rPr/>
              <a:t>Sensitivitätsanalyse: Wie stabil sind Ergebnisse bei Annahmeänderungen?</a:t>
            </a:r>
          </a:p>
          <a:p>
            <a:pPr lvl="0"/>
            <a:r>
              <a:rPr/>
              <a:t>Bewusstsein für eigene kognitiven Verzerrungen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Stratifizierung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Definition:</a:t>
            </a:r>
            <a:br/>
            <a:r>
              <a:rPr/>
              <a:t>Unterteilung der Grundgesamtheit in </a:t>
            </a:r>
            <a:r>
              <a:rPr b="1"/>
              <a:t>Teilgruppen (Strata)</a:t>
            </a:r>
            <a:r>
              <a:rPr/>
              <a:t> mit ähnlichen Merkmalen, bevor daraus zufällig gezogen wird.</a:t>
            </a:r>
          </a:p>
          <a:p>
            <a:pPr lvl="0" indent="0" marL="0">
              <a:buNone/>
            </a:pPr>
            <a:r>
              <a:rPr b="1"/>
              <a:t>Beispiel:</a:t>
            </a:r>
            <a:br/>
            <a:r>
              <a:rPr/>
              <a:t>Bei einer Umfrage in Deutschland werden die Teilnehmenden zunächst nach Geschlecht (m / w / d), Altersgruppen (18–29, 30–49, 50+), Region (Nord, Süd, Ost, West)</a:t>
            </a:r>
            <a:br/>
            <a:r>
              <a:rPr/>
              <a:t>eingeteilt. Anschließend erfolgt die Zufallsauswahl </a:t>
            </a:r>
            <a:r>
              <a:rPr b="1"/>
              <a:t>innerhalb jedes Stratum</a:t>
            </a:r>
            <a:r>
              <a:rPr/>
              <a:t>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3: Lean Content Strategy Canvas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Bitte beachten Sie die Templates im Moodle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4: Besprechung Canvases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 der Canvases aus Session 3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5: Wie kommen Nutzer zu meinen Inhalten?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finden Nutzer meine Inhalte?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vs. Pull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Teilen Sie Ihnen bekannte Kanäle ein!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Owned / Earned / Paid Media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Owned = du kontrollierst es</a:t>
            </a:r>
          </a:p>
          <a:p>
            <a:pPr lvl="0"/>
            <a:r>
              <a:rPr/>
              <a:t>Earned = andere reden über dich</a:t>
            </a:r>
          </a:p>
          <a:p>
            <a:pPr lvl="0"/>
            <a:r>
              <a:rPr/>
              <a:t>Paid = du kaufst dir Aufmerksamkeit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wird man Influencer? (aus letzter Session)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Rage Bait / Click Bait</a:t>
            </a:r>
          </a:p>
          <a:p>
            <a:pPr lvl="0"/>
            <a:r>
              <a:rPr/>
              <a:t>Community durch USP</a:t>
            </a:r>
          </a:p>
          <a:p>
            <a:pPr lvl="0"/>
            <a:r>
              <a:rPr/>
              <a:t>Regelmäßige Posts, jeden Tag, verschiedene Formate, mehrere Plattformen</a:t>
            </a:r>
          </a:p>
          <a:p>
            <a:pPr lvl="0"/>
            <a:r>
              <a:rPr/>
              <a:t>Stringenz im Content, Spezialisierung</a:t>
            </a:r>
          </a:p>
          <a:p>
            <a:pPr lvl="0"/>
            <a:r>
              <a:rPr/>
              <a:t>Shitstorms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Inhalte als Lead-Magnet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„Was bekomme ich, wenn ich Ihnen meine Aufmerksamkeit (oder E-Mail) gebe?“</a:t>
            </a:r>
          </a:p>
          <a:p>
            <a:pPr lvl="0"/>
            <a:r>
              <a:rPr/>
              <a:t>Typische Lead-Magneten: Whitepaper, Checklisten, Tools, exklusive Dashboards.</a:t>
            </a:r>
          </a:p>
          <a:p>
            <a:pPr lvl="0"/>
            <a:r>
              <a:rPr/>
              <a:t>Verbindung zu Content Value Proposition?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LIFT-Modell</a:t>
            </a:r>
          </a:p>
        </p:txBody>
      </p:sp>
      <p:pic>
        <p:nvPicPr>
          <p:cNvPr descr="images/lift-mode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05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neue Herausforderung: AEO &amp; GEO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SEO: Search Engine Optimization</a:t>
            </a:r>
          </a:p>
          <a:p>
            <a:pPr lvl="0"/>
            <a:r>
              <a:rPr/>
              <a:t>AEO: Answer Engine Optimization</a:t>
            </a:r>
          </a:p>
          <a:p>
            <a:pPr lvl="0"/>
            <a:r>
              <a:rPr/>
              <a:t>GEO: Generative Engine Optimization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Alligator</a:t>
            </a:r>
          </a:p>
        </p:txBody>
      </p:sp>
      <p:pic>
        <p:nvPicPr>
          <p:cNvPr descr="images/alligat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real-estat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real-estat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real-estat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chatgpt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6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chatgp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6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Nutzerverhalten 2024–2025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Große Verschiebung bei den Jüngeren: ChatGPT, TikTok und Instagram für Suche</a:t>
            </a:r>
          </a:p>
          <a:p>
            <a:pPr lvl="0"/>
            <a:r>
              <a:rPr/>
              <a:t>Claneo-Studie 2025:</a:t>
            </a:r>
          </a:p>
          <a:p>
            <a:pPr lvl="1"/>
            <a:r>
              <a:rPr b="1"/>
              <a:t>KI-Chatbots</a:t>
            </a:r>
            <a:r>
              <a:rPr/>
              <a:t>: Nutzung 18 % (2024) → 33 % (2025)</a:t>
            </a:r>
          </a:p>
          <a:p>
            <a:pPr lvl="1"/>
            <a:r>
              <a:rPr b="1"/>
              <a:t>KI-Suchmaschinen</a:t>
            </a:r>
            <a:r>
              <a:rPr/>
              <a:t> (Perplexity etc.) 14 % → 17 %</a:t>
            </a:r>
          </a:p>
          <a:p>
            <a:pPr lvl="1"/>
            <a:r>
              <a:rPr b="1"/>
              <a:t>Klassische Suchmaschinen</a:t>
            </a:r>
            <a:r>
              <a:rPr/>
              <a:t> sinken leicht, bleiben aber dominant.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Diskussion: Wo liegt meine Audience?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Bitte überarbeiten Sie Ihre Canvases in Bezug auf die Kanäle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6: Erfolgsmessung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Erfolgsmessung?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Ohne klare Ziele sind Metriken bedeutungslos</a:t>
            </a:r>
          </a:p>
          <a:p>
            <a:pPr lvl="0"/>
            <a:r>
              <a:rPr/>
              <a:t>Wie zahlt eine Website/App auf das Businessziel ein?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Ziele (Business Outcomes)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Mehr Leads</a:t>
            </a:r>
          </a:p>
          <a:p>
            <a:pPr lvl="0"/>
            <a:r>
              <a:rPr/>
              <a:t>Mehr Anmeldungen</a:t>
            </a:r>
          </a:p>
          <a:p>
            <a:pPr lvl="0"/>
            <a:r>
              <a:rPr/>
              <a:t>Mehr aktive Nutzer (Werbeeinblendungen)</a:t>
            </a:r>
          </a:p>
          <a:p>
            <a:pPr lvl="0"/>
            <a:r>
              <a:rPr/>
              <a:t>Mehr Abschlüsse / Käufe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Conversions (Content-Abschlüsse)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Newsletter-Anmeldung</a:t>
            </a:r>
          </a:p>
          <a:p>
            <a:pPr lvl="0"/>
            <a:r>
              <a:rPr/>
              <a:t>PDF-Download</a:t>
            </a:r>
          </a:p>
          <a:p>
            <a:pPr lvl="0"/>
            <a:r>
              <a:rPr/>
              <a:t>Formularabschluss</a:t>
            </a:r>
          </a:p>
          <a:p>
            <a:pPr lvl="0"/>
            <a:r>
              <a:rPr/>
              <a:t>Video bis 75 % (falls Hauptzweck)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Micro-Conversions (Frühindikatoren)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Scrolltiefe</a:t>
            </a:r>
          </a:p>
          <a:p>
            <a:pPr lvl="0"/>
            <a:r>
              <a:rPr/>
              <a:t>Element Visibility</a:t>
            </a:r>
          </a:p>
          <a:p>
            <a:pPr lvl="0"/>
            <a:r>
              <a:rPr/>
              <a:t>Formularstart</a:t>
            </a:r>
          </a:p>
          <a:p>
            <a:pPr lvl="0"/>
            <a:r>
              <a:rPr/>
              <a:t>Klicks auf Module (Tabs, Slider, Quiz)</a:t>
            </a:r>
          </a:p>
          <a:p>
            <a:pPr lvl="0"/>
            <a:r>
              <a:rPr/>
              <a:t>Copy-to-Clipboard</a:t>
            </a:r>
          </a:p>
          <a:p>
            <a:pPr lvl="0"/>
            <a:r>
              <a:rPr/>
              <a:t>Video-Start oder 25 % Fortschritt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Keine guten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Zeit auf Seite / Engaged Sessions</a:t>
            </a:r>
          </a:p>
          <a:p>
            <a:pPr lvl="0"/>
            <a:r>
              <a:rPr/>
              <a:t>Seiten/Sitzung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Scrolltiefe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Erfasst, wie weit Nutzer tatsächlich auf einer Seite nach unten gelangen</a:t>
            </a:r>
          </a:p>
          <a:p>
            <a:pPr lvl="0"/>
            <a:r>
              <a:rPr/>
              <a:t>Geringe Scrolltiefe + hohe Absprungrate → falsches Thema oder schwacher Einstieg</a:t>
            </a:r>
          </a:p>
          <a:p>
            <a:pPr lvl="0"/>
            <a:r>
              <a:rPr/>
              <a:t>Hohe Scrolltiefe + wenige Conversions → Interesse vorhanden, CTA/Angebot zu schwach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 Visibility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Misst, ob ein Element im </a:t>
            </a:r>
            <a:r>
              <a:rPr b="1"/>
              <a:t>Viewport</a:t>
            </a:r>
            <a:r>
              <a:rPr/>
              <a:t> sichtbar war</a:t>
            </a:r>
          </a:p>
          <a:p>
            <a:pPr lvl="0"/>
            <a:r>
              <a:rPr/>
              <a:t>Relevante Elemente: CTA, Download-Box, Formular, Produkt-Highlights</a:t>
            </a:r>
          </a:p>
          <a:p>
            <a:pPr lvl="0" indent="0" marL="0">
              <a:buNone/>
            </a:pPr>
            <a:r>
              <a:rPr b="1"/>
              <a:t>Nutzen:</a:t>
            </a:r>
            <a:br/>
            <a:r>
              <a:rPr/>
              <a:t>- Sichtbarkeit ≠ Klicks</a:t>
            </a:r>
            <a:br/>
            <a:r>
              <a:rPr/>
              <a:t>- Beispiel: „CTA wurde von 42 % gesehen, aber nur 3 % klickten“ → klare Optimierungsrichtung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Tools: Tag Manager</a:t>
            </a:r>
          </a:p>
        </p:txBody>
      </p:sp>
      <p:pic>
        <p:nvPicPr>
          <p:cNvPr descr="images/Google-Tag-Manager-und-Google-Analyt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14500" y="1193800"/>
            <a:ext cx="5715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Tools: Matomo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Datensouveränität, DSGVO-freundlich</a:t>
            </a:r>
          </a:p>
          <a:p>
            <a:pPr lvl="0"/>
            <a:r>
              <a:rPr/>
              <a:t>On-Premise möglich</a:t>
            </a:r>
          </a:p>
          <a:p>
            <a:pPr lvl="0"/>
            <a:r>
              <a:rPr/>
              <a:t>Transparentes Event-Tracking</a:t>
            </a:r>
          </a:p>
          <a:p>
            <a:pPr lvl="0"/>
            <a:r>
              <a:rPr/>
              <a:t>Klassisches Webanalyse-Modell - Demo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Tools: Google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- Ereignisbasiertes Datenmodell</a:t>
            </a:r>
            <a:br/>
            <a:r>
              <a:rPr/>
              <a:t>- Automatische Events (Scrolls, Engagement, Outbound) - Kann auch Apps und Cross-Device Tracking - Moderne Metriken (Engaged Sessions, Predictive Signals)</a:t>
            </a:r>
            <a:br/>
            <a:r>
              <a:rPr/>
              <a:t>- Demo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Reichweite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Unique Users</a:t>
            </a:r>
          </a:p>
          <a:p>
            <a:pPr lvl="0"/>
            <a:r>
              <a:rPr/>
              <a:t>Daily / Weekly / Monthly Active Users (DAU/WAU/MAU)</a:t>
            </a:r>
          </a:p>
          <a:p>
            <a:pPr lvl="0"/>
            <a:r>
              <a:rPr/>
              <a:t>Installs / First Opens (App)</a:t>
            </a:r>
          </a:p>
          <a:p>
            <a:pPr lvl="0"/>
            <a:r>
              <a:rPr/>
              <a:t>Traffic-Quellen</a:t>
            </a:r>
          </a:p>
          <a:p>
            <a:pPr lvl="0"/>
            <a:r>
              <a:rPr/>
              <a:t>Returning Visitor/User Rate</a:t>
            </a:r>
          </a:p>
          <a:p>
            <a:pPr lvl="0"/>
            <a:r>
              <a:rPr/>
              <a:t>Visibility in AEO/GEO (AI Overviews, Chatbot-Responses)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Engagement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Session Frequency (Sessions/User/Tag oder Woche)</a:t>
            </a:r>
          </a:p>
          <a:p>
            <a:pPr lvl="0"/>
            <a:r>
              <a:rPr/>
              <a:t>Average Session Duration</a:t>
            </a:r>
          </a:p>
          <a:p>
            <a:pPr lvl="0"/>
            <a:r>
              <a:rPr/>
              <a:t>Screens per Session (App)</a:t>
            </a:r>
          </a:p>
          <a:p>
            <a:pPr lvl="0"/>
            <a:r>
              <a:rPr/>
              <a:t>Scrolltiefe (Web)</a:t>
            </a:r>
          </a:p>
          <a:p>
            <a:pPr lvl="0"/>
            <a:r>
              <a:rPr/>
              <a:t>Element Visibility (Web)</a:t>
            </a:r>
          </a:p>
          <a:p>
            <a:pPr lvl="0"/>
            <a:r>
              <a:rPr/>
              <a:t>Video-Metriken: Play Rate, Watch Time, Completion</a:t>
            </a:r>
          </a:p>
          <a:p>
            <a:pPr lvl="0"/>
            <a:r>
              <a:rPr/>
              <a:t>Feature Usage (App)</a:t>
            </a:r>
          </a:p>
          <a:p>
            <a:pPr lvl="0"/>
            <a:r>
              <a:rPr/>
              <a:t>In-App Events (z. B. „Added to Favourites“, „Completed Task“)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Interaktion (Micro-Conversions)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CTA-Klicks</a:t>
            </a:r>
          </a:p>
          <a:p>
            <a:pPr lvl="0"/>
            <a:r>
              <a:rPr/>
              <a:t>Downloads (PDF, Asset, Datei)</a:t>
            </a:r>
          </a:p>
          <a:p>
            <a:pPr lvl="0"/>
            <a:r>
              <a:rPr/>
              <a:t>Formularstarts / Abbrüche</a:t>
            </a:r>
          </a:p>
          <a:p>
            <a:pPr lvl="0"/>
            <a:r>
              <a:rPr/>
              <a:t>Copy-to-Clipboard</a:t>
            </a:r>
          </a:p>
          <a:p>
            <a:pPr lvl="0"/>
            <a:r>
              <a:rPr/>
              <a:t>Onboarding Completion (App)</a:t>
            </a:r>
          </a:p>
          <a:p>
            <a:pPr lvl="0"/>
            <a:r>
              <a:rPr/>
              <a:t>Push-Notification Opt-in / Interaktion</a:t>
            </a:r>
          </a:p>
          <a:p>
            <a:pPr lvl="0"/>
            <a:r>
              <a:rPr/>
              <a:t>Deep-Link Events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Registrierungen</a:t>
            </a:r>
          </a:p>
          <a:p>
            <a:pPr lvl="0"/>
            <a:r>
              <a:rPr/>
              <a:t>Abschlüsse / Purchases</a:t>
            </a:r>
          </a:p>
          <a:p>
            <a:pPr lvl="0"/>
            <a:r>
              <a:rPr/>
              <a:t>Conversion Rate pro Funnel-Schritt</a:t>
            </a:r>
          </a:p>
          <a:p>
            <a:pPr lvl="0"/>
            <a:r>
              <a:rPr/>
              <a:t>Assisted Conversions (Multi-Touch)</a:t>
            </a:r>
          </a:p>
          <a:p>
            <a:pPr lvl="0"/>
            <a:r>
              <a:rPr/>
              <a:t>Upgrade Rate (Free → Paid, App)</a:t>
            </a:r>
          </a:p>
          <a:p>
            <a:pPr lvl="0"/>
            <a:r>
              <a:rPr/>
              <a:t>In-App Purchase Rate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Qualität &amp; Stabilität (App)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Crash Rate</a:t>
            </a:r>
          </a:p>
          <a:p>
            <a:pPr lvl="0"/>
            <a:r>
              <a:rPr/>
              <a:t>Error Events</a:t>
            </a:r>
          </a:p>
          <a:p>
            <a:pPr lvl="0"/>
            <a:r>
              <a:rPr/>
              <a:t>App Start Time</a:t>
            </a:r>
          </a:p>
          <a:p>
            <a:pPr lvl="0"/>
            <a:r>
              <a:rPr/>
              <a:t>Load Time / Latency</a:t>
            </a:r>
          </a:p>
          <a:p>
            <a:pPr lvl="0"/>
            <a:r>
              <a:rPr/>
              <a:t>Failed Transactions</a:t>
            </a:r>
          </a:p>
          <a:p>
            <a:pPr lvl="0"/>
            <a:r>
              <a:rPr/>
              <a:t>Rage Clicks / Dead Clicks (optional, Web &amp; App)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KPIs: Bindung &amp; Churn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Retention (Day 1 / Day 7 / Day 30)</a:t>
            </a:r>
          </a:p>
          <a:p>
            <a:pPr lvl="0"/>
            <a:r>
              <a:rPr/>
              <a:t>Cohort Retention</a:t>
            </a:r>
          </a:p>
          <a:p>
            <a:pPr lvl="0"/>
            <a:r>
              <a:rPr/>
              <a:t>Churn Rate</a:t>
            </a:r>
          </a:p>
          <a:p>
            <a:pPr lvl="0"/>
            <a:r>
              <a:rPr/>
              <a:t>Re-Activation Rate</a:t>
            </a:r>
          </a:p>
          <a:p>
            <a:pPr lvl="0"/>
            <a:r>
              <a:rPr/>
              <a:t>Push Notification Re-Engagement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 vs. Ziel: Was ist der Unterschied?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Ziel</a:t>
            </a:r>
            <a:br/>
            <a:r>
              <a:rPr/>
              <a:t>- Beschreibt </a:t>
            </a:r>
            <a:r>
              <a:rPr i="1"/>
              <a:t>was</a:t>
            </a:r>
            <a:r>
              <a:rPr/>
              <a:t> erreicht werden soll</a:t>
            </a:r>
            <a:br/>
            <a:r>
              <a:rPr/>
              <a:t>- Ergebnisorientiert</a:t>
            </a:r>
            <a:br/>
            <a:r>
              <a:rPr/>
              <a:t>- Beispiel: „Mehr Registrierungen für meinen Kurs“</a:t>
            </a:r>
          </a:p>
          <a:p>
            <a:pPr lvl="0" indent="0" marL="0">
              <a:buNone/>
            </a:pPr>
            <a:r>
              <a:rPr b="1"/>
              <a:t>KPI</a:t>
            </a:r>
            <a:br/>
            <a:r>
              <a:rPr/>
              <a:t>- Beschreibt </a:t>
            </a:r>
            <a:r>
              <a:rPr i="1"/>
              <a:t>wie gut</a:t>
            </a:r>
            <a:r>
              <a:rPr/>
              <a:t> wir auf dem Weg zum Ziel sind</a:t>
            </a:r>
            <a:br/>
            <a:r>
              <a:rPr/>
              <a:t>- Messgröße, nicht das Ziel selbst</a:t>
            </a:r>
            <a:br/>
            <a:r>
              <a:rPr/>
              <a:t>- Beispiel: „Conversion Rate der Registrierungsseite“</a:t>
            </a:r>
          </a:p>
          <a:p>
            <a:pPr lvl="0" indent="0" marL="0">
              <a:buNone/>
            </a:pPr>
            <a:r>
              <a:rPr/>
              <a:t>Ziele definieren die Richtung – KPIs messen den Fortschritt.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Beispiele für Ziele und passende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Ziel:</a:t>
            </a:r>
            <a:r>
              <a:rPr/>
              <a:t> Mehr aktive Nutzer</a:t>
            </a:r>
            <a:br/>
            <a:r>
              <a:rPr b="1"/>
              <a:t>KPI:</a:t>
            </a:r>
            <a:r>
              <a:rPr/>
              <a:t> Daily/Weekly Active Users (DAU/WAU)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Mehr Leads</a:t>
            </a:r>
            <a:br/>
            <a:r>
              <a:rPr b="1"/>
              <a:t>KPI:</a:t>
            </a:r>
            <a:r>
              <a:rPr/>
              <a:t> Formular-Conversion-Rate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Bessere Content-Performance</a:t>
            </a:r>
            <a:br/>
            <a:r>
              <a:rPr b="1"/>
              <a:t>KPI:</a:t>
            </a:r>
            <a:r>
              <a:rPr/>
              <a:t> Scrolltiefe, Sichtbarkeit, Interaktionsraten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Höhere Nutzerbindung</a:t>
            </a:r>
            <a:br/>
            <a:r>
              <a:rPr b="1"/>
              <a:t>KPI:</a:t>
            </a:r>
            <a:r>
              <a:rPr/>
              <a:t> 7-Tage-Retention, Churn Rate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Artikel / Blogposts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Scrolltiefe</a:t>
            </a:r>
          </a:p>
          <a:p>
            <a:pPr lvl="0"/>
            <a:r>
              <a:rPr/>
              <a:t>Element Visibility (v. a. CTA / Weiterführende Links)</a:t>
            </a:r>
          </a:p>
          <a:p>
            <a:pPr lvl="0"/>
            <a:r>
              <a:rPr/>
              <a:t>SERP-Klickrate</a:t>
            </a:r>
          </a:p>
          <a:p>
            <a:pPr lvl="0"/>
            <a:r>
              <a:rPr/>
              <a:t>Returning Visitor Rate</a:t>
            </a:r>
          </a:p>
          <a:p>
            <a:pPr lvl="0"/>
            <a:r>
              <a:rPr/>
              <a:t>Shares / Saves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Videos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Play Rate</a:t>
            </a:r>
          </a:p>
          <a:p>
            <a:pPr lvl="0"/>
            <a:r>
              <a:rPr/>
              <a:t>Average Watch Time</a:t>
            </a:r>
          </a:p>
          <a:p>
            <a:pPr lvl="0"/>
            <a:r>
              <a:rPr/>
              <a:t>Completion Rate</a:t>
            </a:r>
          </a:p>
          <a:p>
            <a:pPr lvl="0"/>
            <a:r>
              <a:rPr/>
              <a:t>Drop-off Points</a:t>
            </a:r>
          </a:p>
          <a:p>
            <a:pPr lvl="0"/>
            <a:r>
              <a:rPr/>
              <a:t>CTA-Klick nach Videoende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PDFs / Whitepaper / Downloads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Formularstart</a:t>
            </a:r>
          </a:p>
          <a:p>
            <a:pPr lvl="0"/>
            <a:r>
              <a:rPr/>
              <a:t>Formularabschluss</a:t>
            </a:r>
          </a:p>
          <a:p>
            <a:pPr lvl="0"/>
            <a:r>
              <a:rPr/>
              <a:t>Download Rate</a:t>
            </a:r>
          </a:p>
          <a:p>
            <a:pPr lvl="0"/>
            <a:r>
              <a:rPr/>
              <a:t>Assisted Conversions</a:t>
            </a:r>
          </a:p>
          <a:p>
            <a:pPr lvl="0"/>
            <a:r>
              <a:rPr/>
              <a:t>Sichtbarkeit der Download-Box (Element Visibility)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interaktive Inhalte (Quiz, Tools, Rechner)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Task Success Rate</a:t>
            </a:r>
          </a:p>
          <a:p>
            <a:pPr lvl="0"/>
            <a:r>
              <a:rPr/>
              <a:t>Feature Usage</a:t>
            </a:r>
          </a:p>
          <a:p>
            <a:pPr lvl="0"/>
            <a:r>
              <a:rPr/>
              <a:t>Interaktionen (Tabs, Buttons, Module)</a:t>
            </a:r>
          </a:p>
          <a:p>
            <a:pPr lvl="0"/>
            <a:r>
              <a:rPr/>
              <a:t>Conversion nach Nutzung</a:t>
            </a:r>
          </a:p>
          <a:p>
            <a:pPr lvl="0"/>
            <a:r>
              <a:rPr/>
              <a:t>Time on Task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App-Features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DAU/WAU</a:t>
            </a:r>
          </a:p>
          <a:p>
            <a:pPr lvl="0"/>
            <a:r>
              <a:rPr/>
              <a:t>Feature Usage Events</a:t>
            </a:r>
          </a:p>
          <a:p>
            <a:pPr lvl="0"/>
            <a:r>
              <a:rPr/>
              <a:t>Onboarding Completion</a:t>
            </a:r>
          </a:p>
          <a:p>
            <a:pPr lvl="0"/>
            <a:r>
              <a:rPr/>
              <a:t>Retention (Day 1 / 7 / 30)</a:t>
            </a:r>
          </a:p>
          <a:p>
            <a:pPr lvl="0"/>
            <a:r>
              <a:rPr/>
              <a:t>Churn Rate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KPIs für Newsletter / E-Mails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Open Rate</a:t>
            </a:r>
          </a:p>
          <a:p>
            <a:pPr lvl="0"/>
            <a:r>
              <a:rPr/>
              <a:t>Click Rate</a:t>
            </a:r>
          </a:p>
          <a:p>
            <a:pPr lvl="0"/>
            <a:r>
              <a:rPr/>
              <a:t>Unsubscribe Rate</a:t>
            </a:r>
          </a:p>
          <a:p>
            <a:pPr lvl="0"/>
            <a:r>
              <a:rPr/>
              <a:t>Conversion Rate (z. B. Download, Anmeldung)</a:t>
            </a:r>
          </a:p>
          <a:p>
            <a:pPr lvl="0"/>
            <a:r>
              <a:rPr/>
              <a:t>Deep-Link Engagement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Fallstricke bei der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„Mehr Traffic“ ist kein sinnvolles Ziel</a:t>
            </a:r>
          </a:p>
          <a:p>
            <a:pPr lvl="0"/>
            <a:r>
              <a:rPr/>
              <a:t>Verweildauer kann sowohl positive als auch negative Gründe haben</a:t>
            </a:r>
          </a:p>
          <a:p>
            <a:pPr lvl="0"/>
            <a:r>
              <a:rPr/>
              <a:t>Scrolltiefe ≠ qualitatives Lesen</a:t>
            </a:r>
          </a:p>
          <a:p>
            <a:pPr lvl="0"/>
            <a:r>
              <a:rPr/>
              <a:t>Event-Implementierung muss sauber sein (Schwellen, Debounce, Deduplikation)</a:t>
            </a:r>
          </a:p>
          <a:p>
            <a:pPr lvl="0"/>
            <a:r>
              <a:rPr/>
              <a:t>Attribution beeinflusst Ergebnisse stärker als erwartet</a:t>
            </a:r>
          </a:p>
          <a:p>
            <a:pPr lvl="0"/>
            <a:r>
              <a:rPr/>
              <a:t>Kleine Stichproben &gt;&gt; keine belastbaren Schlüsse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Learning-Modell auf Basis von Scrolltiefe</a:t>
            </a:r>
          </a:p>
        </p:txBody>
      </p:sp>
      <p:pic>
        <p:nvPicPr>
          <p:cNvPr descr="images/model_vs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28800" y="1193800"/>
            <a:ext cx="5499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Learning-Modell auf Basis von Scrolltiefe</a:t>
            </a:r>
          </a:p>
        </p:txBody>
      </p:sp>
      <p:pic>
        <p:nvPicPr>
          <p:cNvPr descr="images/page_heat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1193800"/>
            <a:ext cx="205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Für Ihre eigenen digitalen Inhalte:</a:t>
            </a:r>
            <a:br/>
            <a:r>
              <a:rPr/>
              <a:t>1 Outcome</a:t>
            </a:r>
            <a:br/>
            <a:r>
              <a:rPr/>
              <a:t>2 Conversions</a:t>
            </a:r>
            <a:br/>
            <a:r>
              <a:rPr/>
              <a:t>3 Micro-Conversions definieren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7: A/B Testing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8: Data Mining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Data Mining?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Data Mining?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Assoziationsanalyse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Bayes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9: Datenvisualisierung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10: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11: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12: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13: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Konzeption Digitaler Inhalte</dc:title>
  <dc:creator>Dr. Tom Alby</dc:creator>
  <cp:keywords/>
  <dcterms:created xsi:type="dcterms:W3CDTF">2025-11-28T14:39:37Z</dcterms:created>
  <dcterms:modified xsi:type="dcterms:W3CDTF">2025-11-28T14:39:37Z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2025-11-28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“HAW Hamburg”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slide-number">
    <vt:lpwstr>True</vt:lpwstr>
  </property>
  <property fmtid="{D5CDD505-2E9C-101B-9397-08002B2CF9AE}" pid="15" name="toc-title">
    <vt:lpwstr>Table of contents</vt:lpwstr>
  </property>
</Properties>
</file>