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Konzeption Digitaler Inhalte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Tom Alby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1: Einführung, Organisatorisches und Grundlage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Prozesse und Strukturen in der Informations- und Medienwirtschaft implementieren und Digital-Produkte entwickeln, indem sie</a:t>
            </a:r>
          </a:p>
          <a:p>
            <a:pPr lvl="0"/>
            <a:r>
              <a:rPr/>
              <a:t>digitale Inhalte, Daten- und Medienprodukte sowie interaktive Darstellungsformen beispielsweise mit Methoden der User Experience konzipieren und realisieren,</a:t>
            </a:r>
          </a:p>
          <a:p>
            <a:pPr lvl="0"/>
            <a:r>
              <a:rPr/>
              <a:t>um innovative Gestaltungsformate zu etablieren und damit Zielgruppen überprüfbar zu erreichen.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digitale Transformation verantwortungsbewusst und adressatengerecht gestalten, indem sie</a:t>
            </a:r>
          </a:p>
          <a:p>
            <a:pPr lvl="0"/>
            <a:r>
              <a:rPr/>
              <a:t>Prozesse und Strukturen in der Informations- und Medienwirtschaft implementieren und digitale Produkte konzipieren und entwickeln;</a:t>
            </a:r>
          </a:p>
          <a:p>
            <a:pPr lvl="0"/>
            <a:r>
              <a:rPr/>
              <a:t>Informationen, Inhalte und Datenbestände erschließen, kuratieren, aufbereiten, lizenzieren und publizieren;</a:t>
            </a:r>
          </a:p>
          <a:p>
            <a:pPr lvl="0"/>
            <a:r>
              <a:rPr/>
              <a:t>Daten, digitale Medien und Technologien zielgruppenspezifisch vermitteln und kommunizieren.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Kursziele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 von Daten: Unterschied zwischen Daten, Informationen und Erkenntnissen verstehen und digitale Inhalte daran ausrichten.</a:t>
            </a:r>
          </a:p>
          <a:p>
            <a:pPr lvl="0"/>
            <a:r>
              <a:rPr/>
              <a:t>Personalisierung und Empfehlung: Sie wenden einfache Segmentierungs‑ und Assoziationsverfahren an, um Inhalte zielgruppenspezifisch zu empfehlen.</a:t>
            </a:r>
          </a:p>
          <a:p>
            <a:pPr lvl="0"/>
            <a:r>
              <a:rPr/>
              <a:t>Erfolgsüberprüfung: Sie definieren und überprüfen relevante KPIs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Prüfungsleistung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Prüfungsleistung: 20‑minütiges Referat (mündliche Prüfung) und/oder 3–5‑seitiger Kurzbericht (schriftliche Prüfung): Segmentierung einer Zielgruppe auf Basis von Daten, Konzept eines Datenprodukts, Erfolgsdefinition und -Reportingkonzept.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Teilnahme online möglich, keine Aufzeichnung</a:t>
            </a:r>
          </a:p>
          <a:p>
            <a:pPr lvl="0"/>
            <a:r>
              <a:rPr/>
              <a:t>Moodle Einschreibepasswort: CommanderData!</a:t>
            </a:r>
          </a:p>
          <a:p>
            <a:pPr lvl="0"/>
            <a:r>
              <a:rPr/>
              <a:t>ChatGPT &amp; Co sind ausdrücklich erlaubt, aber Sie müssen das Protokoll teilen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digitale Inhalte, Daten- und Medienprodukte?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“innovative Gestaltungsformate”?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 “überprüfbar erreichen”?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“Prozesse und Strukturen in der Informations- und Medienwirtschaft implementieren und digitale Produkte konzipieren und entwickeln”?</a:t>
            </a:r>
          </a:p>
          <a:p>
            <a:pPr lvl="0"/>
            <a:r>
              <a:rPr/>
              <a:t>“Informationen, Inhalte und Datenbestände erschließen, kuratieren, aufbereiten, lizenzieren und publizieren”?</a:t>
            </a:r>
          </a:p>
          <a:p>
            <a:pPr lvl="0"/>
            <a:r>
              <a:rPr/>
              <a:t>“Daten, digitale Medien und Technologien zielgruppenspezifisch vermitteln und kommunizieren”?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sind Daten überhaupt?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Daten</a:t>
            </a:r>
          </a:p>
          <a:p>
            <a:pPr lvl="1"/>
            <a:r>
              <a:rPr/>
              <a:t>Roh, ungeordnet, noch nicht interpretiert</a:t>
            </a:r>
          </a:p>
          <a:p>
            <a:pPr lvl="1"/>
            <a:r>
              <a:rPr/>
              <a:t>Bestehen aus Zahlen, Zeichen, Fakten ohne Kontext</a:t>
            </a:r>
          </a:p>
          <a:p>
            <a:pPr lvl="0"/>
            <a:r>
              <a:rPr i="1"/>
              <a:t>Informationen</a:t>
            </a:r>
          </a:p>
          <a:p>
            <a:pPr lvl="1"/>
            <a:r>
              <a:rPr/>
              <a:t>Verarbeitete, kontextualisierte Daten</a:t>
            </a:r>
          </a:p>
          <a:p>
            <a:pPr lvl="1"/>
            <a:r>
              <a:rPr/>
              <a:t>Haben Bedeutung und Relevanz für eine Fragestellung</a:t>
            </a:r>
          </a:p>
          <a:p>
            <a:pPr lvl="1"/>
            <a:r>
              <a:rPr b="1"/>
              <a:t>Daten + Kontext = Information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Datenkompetenz nach Ridsdale et al</a:t>
            </a:r>
          </a:p>
        </p:txBody>
      </p:sp>
      <p:pic>
        <p:nvPicPr>
          <p:cNvPr descr="images/Ridsda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DIKW-Pyramide</a:t>
            </a:r>
          </a:p>
        </p:txBody>
      </p:sp>
      <p:pic>
        <p:nvPicPr>
          <p:cNvPr descr="images/dikw-pyramid-removebg-pre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193800"/>
            <a:ext cx="4013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Toms Pyramide</a:t>
            </a:r>
          </a:p>
        </p:txBody>
      </p:sp>
      <p:pic>
        <p:nvPicPr>
          <p:cNvPr descr="images/tatt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Relevanz in der Aufmerksamkeitsökonomie</a:t>
            </a:r>
          </a:p>
        </p:txBody>
      </p:sp>
      <p:pic>
        <p:nvPicPr>
          <p:cNvPr descr="images/relev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können wir Daten nutzen, um Relevanz zu erzeugen?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Aufmerksamkeit als knappes Gut</a:t>
            </a:r>
            <a:r>
              <a:rPr/>
              <a:t>: In der „Attention Economy“ zahlen Nutzer*innen mit ihrer Aufmerksamkeit; Informationsüberflutung erfordert filternde Mechanismen.</a:t>
            </a:r>
          </a:p>
          <a:p>
            <a:pPr lvl="0"/>
            <a:r>
              <a:rPr b="1"/>
              <a:t>Data Mining als Brücke</a:t>
            </a:r>
            <a:r>
              <a:rPr/>
              <a:t>: Data Mining extrahiert Muster und Korrelationen aus großen Datenmengen, um relevante Informationen zu erzeugen.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Beispiel: Newsletter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Was ist das Ziel/sind die Ziele eines Newsletters?</a:t>
            </a:r>
          </a:p>
          <a:p>
            <a:pPr lvl="0"/>
            <a:r>
              <a:rPr/>
              <a:t>Was sind mögliche KPIs?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funktioniert Data Mining?</a:t>
            </a:r>
          </a:p>
        </p:txBody>
      </p:sp>
      <p:pic>
        <p:nvPicPr>
          <p:cNvPr descr="images/CRISP-DM_Process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1193800"/>
            <a:ext cx="337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Mining-Sprachen und -Systeme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SPSS / PSPP</a:t>
            </a:r>
          </a:p>
          <a:p>
            <a:pPr lvl="0"/>
            <a:r>
              <a:rPr/>
              <a:t>SAS</a:t>
            </a:r>
          </a:p>
          <a:p>
            <a:pPr lvl="0"/>
            <a:r>
              <a:rPr/>
              <a:t>Python</a:t>
            </a:r>
          </a:p>
          <a:p>
            <a:pPr lvl="0"/>
            <a:r>
              <a:rPr/>
              <a:t>Scala</a:t>
            </a:r>
          </a:p>
          <a:p>
            <a:pPr lvl="0"/>
            <a:r>
              <a:rPr/>
              <a:t>Julia</a:t>
            </a:r>
          </a:p>
          <a:p>
            <a:pPr lvl="0"/>
            <a:r>
              <a:rPr/>
              <a:t>R</a:t>
            </a:r>
          </a:p>
          <a:p>
            <a:pPr lvl="0"/>
            <a:r>
              <a:rPr/>
              <a:t>Knime</a:t>
            </a:r>
          </a:p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Welche Inhalte wünschen Sie sich noch?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2: Daten-Akquise und -Überprüfung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Primärdaten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Interviews</a:t>
            </a:r>
          </a:p>
          <a:p>
            <a:pPr lvl="0"/>
            <a:r>
              <a:rPr/>
              <a:t>Umfragen</a:t>
            </a:r>
          </a:p>
          <a:p>
            <a:pPr lvl="0"/>
            <a:r>
              <a:rPr/>
              <a:t>Experimente / Messungen</a:t>
            </a:r>
          </a:p>
          <a:p>
            <a:pPr lvl="0"/>
            <a:r>
              <a:rPr/>
              <a:t>Tracking (eigene Tools oder Tools Dritter)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Sekundärdaten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Statistisches Bundesamt</a:t>
            </a:r>
          </a:p>
          <a:p>
            <a:pPr lvl="0"/>
            <a:r>
              <a:rPr/>
              <a:t>GfK, Brandindex, Statista</a:t>
            </a:r>
          </a:p>
          <a:p>
            <a:pPr lvl="0"/>
            <a:r>
              <a:rPr/>
              <a:t>Open-Data-Portale</a:t>
            </a:r>
          </a:p>
          <a:p>
            <a:pPr lvl="0"/>
            <a:r>
              <a:rPr/>
              <a:t>Google-Tools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Fragen zur Datenqualität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Wer hat die Daten erhoben?</a:t>
            </a:r>
          </a:p>
          <a:p>
            <a:pPr lvl="0"/>
            <a:r>
              <a:rPr/>
              <a:t>Zu welchem Zweck?</a:t>
            </a:r>
          </a:p>
          <a:p>
            <a:pPr lvl="0"/>
            <a:r>
              <a:rPr/>
              <a:t>Ist die Stichprobe repräsentativ?</a:t>
            </a:r>
          </a:p>
          <a:p>
            <a:pPr lvl="0"/>
            <a:r>
              <a:rPr/>
              <a:t>Sind die Variablen klar definiert?</a:t>
            </a:r>
          </a:p>
          <a:p>
            <a:pPr lvl="0"/>
            <a:r>
              <a:rPr/>
              <a:t>Sind die Befragten voreingenommen?</a:t>
            </a:r>
          </a:p>
          <a:p>
            <a:pPr lvl="0"/>
            <a:r>
              <a:rPr/>
              <a:t>Wie zuverlässig (reliabel) und gültig (valide) sind die Messungen?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Reliabilität &amp; Validität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Reliabilität</a:t>
            </a:r>
            <a:br/>
            <a:r>
              <a:rPr/>
              <a:t>- Misst das Instrument konsistent?</a:t>
            </a:r>
            <a:br/>
            <a:r>
              <a:rPr/>
              <a:t>- Beispiel: Wiederholte Befragung führt zu ähnlichen Ergebnissen.</a:t>
            </a:r>
          </a:p>
          <a:p>
            <a:pPr lvl="0" indent="0" marL="0">
              <a:buNone/>
            </a:pPr>
            <a:r>
              <a:rPr b="1"/>
              <a:t>Validität</a:t>
            </a:r>
            <a:br/>
            <a:r>
              <a:rPr/>
              <a:t>- Misst das Instrument, was es messen soll?</a:t>
            </a:r>
            <a:br/>
            <a:r>
              <a:rPr/>
              <a:t>- Beispiel: „Zufriedenheit“ darf nicht nur mit „Häufigkeit der Nutzung“ gleichgesetzt werden.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Häufige Probleme bei Stichproben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Convenience Sampling:</a:t>
            </a:r>
            <a:r>
              <a:rPr/>
              <a:t> Auswahl der Personen, die leicht erreichbar sind – aber nicht repräsentativ.</a:t>
            </a:r>
          </a:p>
          <a:p>
            <a:pPr lvl="0"/>
            <a:r>
              <a:rPr b="1"/>
              <a:t>Non-Response-Bias:</a:t>
            </a:r>
            <a:r>
              <a:rPr/>
              <a:t> Bestimmte Gruppen nehmen systematisch nicht teil.</a:t>
            </a:r>
          </a:p>
          <a:p>
            <a:pPr lvl="0"/>
            <a:r>
              <a:rPr b="1"/>
              <a:t>Kulturelle Antwortverzerrung:</a:t>
            </a:r>
            <a:r>
              <a:rPr/>
              <a:t> Ein „Nein“ ist in manchen Kulturen sozial unerwünscht.</a:t>
            </a:r>
          </a:p>
          <a:p>
            <a:pPr lvl="0"/>
            <a:r>
              <a:rPr b="1"/>
              <a:t>Soziale Erwünschtheit:</a:t>
            </a:r>
            <a:r>
              <a:rPr/>
              <a:t> Menschen geben Antworten, die gut klingen – nicht unbedingt die Wahrheit.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Website-Umfrage</a:t>
            </a:r>
          </a:p>
        </p:txBody>
      </p:sp>
      <p:pic>
        <p:nvPicPr>
          <p:cNvPr descr="images/hp-umfrage-websi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08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Umfrage vor Weiterleitung</a:t>
            </a:r>
          </a:p>
        </p:txBody>
      </p:sp>
      <p:pic>
        <p:nvPicPr>
          <p:cNvPr descr="images/google-umfr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87700" y="1193800"/>
            <a:ext cx="275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Soziale Erwünschtheit</a:t>
            </a:r>
          </a:p>
        </p:txBody>
      </p:sp>
      <p:pic>
        <p:nvPicPr>
          <p:cNvPr descr="images/adblock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9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Glauben Sie das?</a:t>
            </a:r>
          </a:p>
        </p:txBody>
      </p:sp>
      <p:pic>
        <p:nvPicPr>
          <p:cNvPr descr="images/b4p_Fake_News_gallery11-768x54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waren die Fragen eigentlich gestellt?</a:t>
            </a:r>
          </a:p>
        </p:txBody>
      </p:sp>
      <p:pic>
        <p:nvPicPr>
          <p:cNvPr descr="images/b4p-frag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kommt es zu dem Ergebnis?</a:t>
            </a:r>
          </a:p>
        </p:txBody>
      </p:sp>
      <p:pic>
        <p:nvPicPr>
          <p:cNvPr descr="images/b4p-dat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367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Beispiele für Umfrageverzerrungen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Beschreibung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zuzustimmen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abzulehnen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Middle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neutraler Antwortoptionen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Response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Überrationalisiertes Antworten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Convenience Sampling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leicht erreichbarer Personen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typische Verzerrungen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Recall Bias:</a:t>
            </a:r>
            <a:r>
              <a:rPr/>
              <a:t> Falsche Erinnerung bei retrospektiven Fragen.</a:t>
            </a:r>
          </a:p>
          <a:p>
            <a:pPr lvl="0"/>
            <a:r>
              <a:rPr b="1"/>
              <a:t>Survivorship Bias:</a:t>
            </a:r>
            <a:r>
              <a:rPr/>
              <a:t> Nur „Überlebende“ werden betrachtet, z. B. erfolgreiche Start-ups.</a:t>
            </a:r>
          </a:p>
          <a:p>
            <a:pPr lvl="0"/>
            <a:r>
              <a:rPr b="1"/>
              <a:t>Algorithmic Bias:</a:t>
            </a:r>
            <a:r>
              <a:rPr/>
              <a:t> Verzerrte Trainingsdaten führen zu unfairen Modellen.</a:t>
            </a:r>
          </a:p>
          <a:p>
            <a:pPr lvl="0"/>
            <a:r>
              <a:rPr b="1"/>
              <a:t>Availability Bias:</a:t>
            </a:r>
            <a:r>
              <a:rPr/>
              <a:t> Häufig Gehörtes wird überschätzt.</a:t>
            </a:r>
          </a:p>
          <a:p>
            <a:pPr lvl="0"/>
            <a:r>
              <a:rPr b="1"/>
              <a:t>Confirmation Bias:</a:t>
            </a:r>
            <a:r>
              <a:rPr/>
              <a:t> Suche nach bestätigenden Informationen.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Bestätigungsfehler (Confirmation Bias)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Wir suchen bevorzugt nach Daten, die unsere Meinung </a:t>
            </a:r>
            <a:r>
              <a:rPr b="1"/>
              <a:t>bestätigen</a:t>
            </a:r>
            <a:r>
              <a:rPr/>
              <a:t>.</a:t>
            </a:r>
          </a:p>
          <a:p>
            <a:pPr lvl="0"/>
            <a:r>
              <a:rPr/>
              <a:t>Widersprüchliche Daten werden ignoriert</a:t>
            </a:r>
          </a:p>
          <a:p>
            <a:pPr lvl="0"/>
            <a:r>
              <a:rPr/>
              <a:t>Unterstützende Daten werden überbewertet</a:t>
            </a:r>
          </a:p>
          <a:p>
            <a:pPr lvl="0"/>
            <a:r>
              <a:rPr/>
              <a:t>„Cherry Picking“ bei der Datenauswahl</a:t>
            </a:r>
          </a:p>
          <a:p>
            <a:pPr lvl="0" indent="0" marL="0">
              <a:buNone/>
            </a:pPr>
            <a:r>
              <a:rPr b="1"/>
              <a:t>Das größte Risiko für Verzerrung sind wir selbst.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pic>
        <p:nvPicPr>
          <p:cNvPr descr="images/Survivorship-bias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4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(Verzerrung zugunsten der Überlebenden)</a:t>
            </a:r>
          </a:p>
          <a:p>
            <a:pPr lvl="0"/>
            <a:r>
              <a:rPr/>
              <a:t>Wir sehen nur die „Überlebenden“ – also erfolgreiche Fälle</a:t>
            </a:r>
          </a:p>
          <a:p>
            <a:pPr lvl="0"/>
            <a:r>
              <a:rPr/>
              <a:t>Gescheiterte Beispiele fehlen in den Daten</a:t>
            </a:r>
          </a:p>
          <a:p>
            <a:pPr lvl="0"/>
            <a:r>
              <a:rPr/>
              <a:t>Führt zu falschen Schlussfolgerungen über Erfolg</a:t>
            </a:r>
          </a:p>
          <a:p>
            <a:pPr lvl="0" indent="0" marL="0">
              <a:buNone/>
            </a:pPr>
            <a:r>
              <a:rPr i="1"/>
              <a:t>Beispiel:</a:t>
            </a:r>
            <a:r>
              <a:rPr/>
              <a:t> Analyse erfolgreicher Start-ups ohne Berücksichtigung der gescheiterten.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Ottenser_Hauptstraß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21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pintere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57400"/>
            <a:ext cx="8229600" cy="166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Der Fehler der </a:t>
            </a:r>
            <a:r>
              <a:rPr i="1"/>
              <a:t>Literary Digest</a:t>
            </a:r>
            <a:r>
              <a:rPr/>
              <a:t>-Umfrage (1936)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Befragte Leser, Auto- und Telefonbesitzer</a:t>
            </a:r>
          </a:p>
          <a:p>
            <a:pPr lvl="0"/>
            <a:r>
              <a:rPr/>
              <a:t>Ergebnis: Landon gewinnt gegen Roosevelt</a:t>
            </a:r>
          </a:p>
          <a:p>
            <a:pPr lvl="0"/>
            <a:r>
              <a:rPr/>
              <a:t>Realität: Roosevelt siegte deutlich</a:t>
            </a:r>
          </a:p>
          <a:p>
            <a:pPr lvl="0"/>
            <a:r>
              <a:rPr/>
              <a:t>Ursache: </a:t>
            </a:r>
            <a:r>
              <a:rPr b="1"/>
              <a:t>Selection Bias</a:t>
            </a:r>
            <a:r>
              <a:rPr/>
              <a:t> – wohlhabende Befragte waren überrepräsentiert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Systematische Abweichung durch fehlerhafte Auswahl</a:t>
            </a:r>
          </a:p>
          <a:p>
            <a:pPr lvl="0"/>
            <a:r>
              <a:rPr/>
              <a:t>Auch große Stichproben helfen nicht, wenn sie nicht zufällig sind</a:t>
            </a:r>
          </a:p>
          <a:p>
            <a:pPr lvl="0"/>
            <a:r>
              <a:rPr/>
              <a:t>Beispiel: Online-Umfragen erreichen nur digital affine Personen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Gegenmaßnahmen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Kritische Prüfung von Datenquellen und Methoden</a:t>
            </a:r>
          </a:p>
          <a:p>
            <a:pPr lvl="0"/>
            <a:r>
              <a:rPr/>
              <a:t>Kombination mehrerer Quellen (Triangulation)</a:t>
            </a:r>
          </a:p>
          <a:p>
            <a:pPr lvl="0"/>
            <a:r>
              <a:rPr/>
              <a:t>Dokumentation der Stichprobenverfahren</a:t>
            </a:r>
          </a:p>
          <a:p>
            <a:pPr lvl="0"/>
            <a:r>
              <a:rPr/>
              <a:t>Qualitative Validierung der Ergebnisse</a:t>
            </a:r>
          </a:p>
          <a:p>
            <a:pPr lvl="0"/>
            <a:r>
              <a:rPr/>
              <a:t>Randomisierung oder Stratifizierung</a:t>
            </a:r>
          </a:p>
          <a:p>
            <a:pPr lvl="0"/>
            <a:r>
              <a:rPr/>
              <a:t>Sensitivitätsanalyse: Wie stabil sind Ergebnisse bei Annahmeänderungen?</a:t>
            </a:r>
          </a:p>
          <a:p>
            <a:pPr lvl="0"/>
            <a:r>
              <a:rPr/>
              <a:t>Bewusstsein für eigene kognitiven Verzerrungen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Stratifizierung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Definition:</a:t>
            </a:r>
            <a:br/>
            <a:r>
              <a:rPr/>
              <a:t>Unterteilung der Grundgesamtheit in </a:t>
            </a:r>
            <a:r>
              <a:rPr b="1"/>
              <a:t>Teilgruppen (Strata)</a:t>
            </a:r>
            <a:r>
              <a:rPr/>
              <a:t> mit ähnlichen Merkmalen, bevor daraus zufällig gezogen wird.</a:t>
            </a:r>
          </a:p>
          <a:p>
            <a:pPr lvl="0" indent="0" marL="0">
              <a:buNone/>
            </a:pPr>
            <a:r>
              <a:rPr b="1"/>
              <a:t>Beispiel:</a:t>
            </a:r>
            <a:br/>
            <a:r>
              <a:rPr/>
              <a:t>Bei einer Umfrage in Deutschland werden die Teilnehmenden zunächst nach Geschlecht (m / w / d), Altersgruppen (18–29, 30–49, 50+), Region (Nord, Süd, Ost, West)</a:t>
            </a:r>
            <a:br/>
            <a:r>
              <a:rPr/>
              <a:t>eingeteilt. Anschließend erfolgt die Zufallsauswahl </a:t>
            </a:r>
            <a:r>
              <a:rPr b="1"/>
              <a:t>innerhalb jedes Stratum</a:t>
            </a:r>
            <a:r>
              <a:rPr/>
              <a:t>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3: Lean Content Strategy Canvas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Bitte beachten Sie die Templates im Moodle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4: Wie kommen Nutzer zu meinen Inhalten?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 der Canvases aus Session 3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finden Nutzer meine Inhalte?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vs. Pull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Teilen Sie Ihnen bekannte Kanäle ein!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Inhalte als Lead-Magnet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„Was bekomme ich, wenn ich Ihnen meine Aufmerksamkeit (oder E-Mail) gebe?“</a:t>
            </a:r>
          </a:p>
          <a:p>
            <a:pPr lvl="0"/>
            <a:r>
              <a:rPr/>
              <a:t>Typische Lead-Magneten: Whitepaper, Checklisten, Tools, exklusive Dashboards.</a:t>
            </a:r>
          </a:p>
          <a:p>
            <a:pPr lvl="0"/>
            <a:r>
              <a:rPr/>
              <a:t>Verbindung zu Content Value Proposition?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LIFT-Modell</a:t>
            </a:r>
          </a:p>
        </p:txBody>
      </p:sp>
      <p:pic>
        <p:nvPicPr>
          <p:cNvPr descr="images/lift-mode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05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Micro-Conversions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Signup</a:t>
            </a:r>
          </a:p>
          <a:p>
            <a:pPr lvl="0"/>
            <a:r>
              <a:rPr/>
              <a:t>Download</a:t>
            </a:r>
          </a:p>
          <a:p>
            <a:pPr lvl="0"/>
            <a:r>
              <a:rPr/>
              <a:t>Scroll oder anderes Webpage Event</a:t>
            </a:r>
          </a:p>
          <a:p>
            <a:pPr lvl="0"/>
            <a:r>
              <a:rPr/>
              <a:t>…?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Owned / Earned / Paid Media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Owned = du kontrollierst es</a:t>
            </a:r>
          </a:p>
          <a:p>
            <a:pPr lvl="0"/>
            <a:r>
              <a:rPr/>
              <a:t>Earned = andere reden über dich</a:t>
            </a:r>
          </a:p>
          <a:p>
            <a:pPr lvl="0"/>
            <a:r>
              <a:rPr/>
              <a:t>Paid = du kaufst dir Aufmerksamkeit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wird man Influencer?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Bitte überarbeiten Sie Ihre Canvases</a:t>
            </a:r>
          </a:p>
          <a:p>
            <a:pPr lvl="0"/>
            <a:r>
              <a:rPr/>
              <a:t>Können wir schon Termine für Referate vereinbaren?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Konzeption Digitaler Inhalte</dc:title>
  <dc:creator>Dr. Tom Alby</dc:creator>
  <cp:keywords/>
  <dcterms:created xsi:type="dcterms:W3CDTF">2025-11-14T13:49:21Z</dcterms:created>
  <dcterms:modified xsi:type="dcterms:W3CDTF">2025-11-14T13:49:21Z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2025-11-14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“HAW Hamburg”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slide-number">
    <vt:lpwstr>True</vt:lpwstr>
  </property>
  <property fmtid="{D5CDD505-2E9C-101B-9397-08002B2CF9AE}" pid="15" name="toc-title">
    <vt:lpwstr>Table of contents</vt:lpwstr>
  </property>
</Properties>
</file>