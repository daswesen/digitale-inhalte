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g" ContentType="image/jpe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5" Type="http://schemas.openxmlformats.org/officeDocument/2006/relationships/slide" Target="slides/slide54.xml" /><Relationship Id="rId56" Type="http://schemas.openxmlformats.org/officeDocument/2006/relationships/slide" Target="slides/slide55.xml" /><Relationship Id="rId57" Type="http://schemas.openxmlformats.org/officeDocument/2006/relationships/slide" Target="slides/slide56.xml" /><Relationship Id="rId58" Type="http://schemas.openxmlformats.org/officeDocument/2006/relationships/slide" Target="slides/slide57.xml" /><Relationship Id="rId59" Type="http://schemas.openxmlformats.org/officeDocument/2006/relationships/slide" Target="slides/slide58.xml" /><Relationship Id="rId60" Type="http://schemas.openxmlformats.org/officeDocument/2006/relationships/slide" Target="slides/slide59.xml" /><Relationship Id="rId61" Type="http://schemas.openxmlformats.org/officeDocument/2006/relationships/slide" Target="slides/slide60.xml" /><Relationship Id="rId62" Type="http://schemas.openxmlformats.org/officeDocument/2006/relationships/slide" Target="slides/slide61.xml" /><Relationship Id="rId63" Type="http://schemas.openxmlformats.org/officeDocument/2006/relationships/slide" Target="slides/slide62.xml" /><Relationship Id="rId64" Type="http://schemas.openxmlformats.org/officeDocument/2006/relationships/slide" Target="slides/slide63.xml" /><Relationship Id="rId65" Type="http://schemas.openxmlformats.org/officeDocument/2006/relationships/slide" Target="slides/slide64.xml" /><Relationship Id="rId66" Type="http://schemas.openxmlformats.org/officeDocument/2006/relationships/slide" Target="slides/slide65.xml" /><Relationship Id="rId67" Type="http://schemas.openxmlformats.org/officeDocument/2006/relationships/slide" Target="slides/slide66.xml" /><Relationship Id="rId68" Type="http://schemas.openxmlformats.org/officeDocument/2006/relationships/slide" Target="slides/slide67.xml" /><Relationship Id="rId69" Type="http://schemas.openxmlformats.org/officeDocument/2006/relationships/slide" Target="slides/slide68.xml" /><Relationship Id="rId70" Type="http://schemas.openxmlformats.org/officeDocument/2006/relationships/slide" Target="slides/slide69.xml" /><Relationship Id="rId71" Type="http://schemas.openxmlformats.org/officeDocument/2006/relationships/slide" Target="slides/slide70.xml" /><Relationship Id="rId72" Type="http://schemas.openxmlformats.org/officeDocument/2006/relationships/slide" Target="slides/slide71.xml" /><Relationship Id="rId73" Type="http://schemas.openxmlformats.org/officeDocument/2006/relationships/slide" Target="slides/slide72.xml" /><Relationship Id="rId74" Type="http://schemas.openxmlformats.org/officeDocument/2006/relationships/slide" Target="slides/slide73.xml" /><Relationship Id="rId75" Type="http://schemas.openxmlformats.org/officeDocument/2006/relationships/slide" Target="slides/slide74.xml" /><Relationship Id="rId76" Type="http://schemas.openxmlformats.org/officeDocument/2006/relationships/slide" Target="slides/slide75.xml" /><Relationship Id="rId77" Type="http://schemas.openxmlformats.org/officeDocument/2006/relationships/slide" Target="slides/slide76.xml" /><Relationship Id="rId78" Type="http://schemas.openxmlformats.org/officeDocument/2006/relationships/slide" Target="slides/slide77.xml" /><Relationship Id="rId79" Type="http://schemas.openxmlformats.org/officeDocument/2006/relationships/slide" Target="slides/slide78.xml" /><Relationship Id="rId80" Type="http://schemas.openxmlformats.org/officeDocument/2006/relationships/slide" Target="slides/slide79.xml" /><Relationship Id="rId81" Type="http://schemas.openxmlformats.org/officeDocument/2006/relationships/slide" Target="slides/slide80.xml" /><Relationship Id="rId82" Type="http://schemas.openxmlformats.org/officeDocument/2006/relationships/slide" Target="slides/slide81.xml" /><Relationship Id="rId83" Type="http://schemas.openxmlformats.org/officeDocument/2006/relationships/slide" Target="slides/slide82.xml" /><Relationship Id="rId84" Type="http://schemas.openxmlformats.org/officeDocument/2006/relationships/slide" Target="slides/slide83.xml" /><Relationship Id="rId85" Type="http://schemas.openxmlformats.org/officeDocument/2006/relationships/slide" Target="slides/slide84.xml" /><Relationship Id="rId86" Type="http://schemas.openxmlformats.org/officeDocument/2006/relationships/slide" Target="slides/slide85.xml" /><Relationship Id="rId87" Type="http://schemas.openxmlformats.org/officeDocument/2006/relationships/slide" Target="slides/slide86.xml" /><Relationship Id="rId88" Type="http://schemas.openxmlformats.org/officeDocument/2006/relationships/slide" Target="slides/slide87.xml" /><Relationship Id="rId89" Type="http://schemas.openxmlformats.org/officeDocument/2006/relationships/slide" Target="slides/slide88.xml" /><Relationship Id="rId90" Type="http://schemas.openxmlformats.org/officeDocument/2006/relationships/slide" Target="slides/slide89.xml" /><Relationship Id="rId91" Type="http://schemas.openxmlformats.org/officeDocument/2006/relationships/slide" Target="slides/slide90.xml" /><Relationship Id="rId92" Type="http://schemas.openxmlformats.org/officeDocument/2006/relationships/slide" Target="slides/slide91.xml" /><Relationship Id="rId93" Type="http://schemas.openxmlformats.org/officeDocument/2006/relationships/slide" Target="slides/slide92.xml" /><Relationship Id="rId94" Type="http://schemas.openxmlformats.org/officeDocument/2006/relationships/slide" Target="slides/slide93.xml" /><Relationship Id="rId95" Type="http://schemas.openxmlformats.org/officeDocument/2006/relationships/slide" Target="slides/slide94.xml" /><Relationship Id="rId96" Type="http://schemas.openxmlformats.org/officeDocument/2006/relationships/slide" Target="slides/slide95.xml" /><Relationship Id="rId97" Type="http://schemas.openxmlformats.org/officeDocument/2006/relationships/slide" Target="slides/slide96.xml" /><Relationship Id="rId98" Type="http://schemas.openxmlformats.org/officeDocument/2006/relationships/slide" Target="slides/slide97.xml" /><Relationship Id="rId99" Type="http://schemas.openxmlformats.org/officeDocument/2006/relationships/slide" Target="slides/slide98.xml" /><Relationship Id="rId100" Type="http://schemas.openxmlformats.org/officeDocument/2006/relationships/slide" Target="slides/slide99.xml" /><Relationship Id="rId101" Type="http://schemas.openxmlformats.org/officeDocument/2006/relationships/slide" Target="slides/slide100.xml" /><Relationship Id="rId102" Type="http://schemas.openxmlformats.org/officeDocument/2006/relationships/slide" Target="slides/slide101.xml" /><Relationship Id="rId103" Type="http://schemas.openxmlformats.org/officeDocument/2006/relationships/slide" Target="slides/slide102.xml" /><Relationship Id="rId104" Type="http://schemas.openxmlformats.org/officeDocument/2006/relationships/slide" Target="slides/slide103.xml" /><Relationship Id="rId105" Type="http://schemas.openxmlformats.org/officeDocument/2006/relationships/slide" Target="slides/slide104.xml" /><Relationship Id="rId106" Type="http://schemas.openxmlformats.org/officeDocument/2006/relationships/slide" Target="slides/slide105.xml" /><Relationship Id="rId107" Type="http://schemas.openxmlformats.org/officeDocument/2006/relationships/slide" Target="slides/slide106.xml" /><Relationship Id="rId108" Type="http://schemas.openxmlformats.org/officeDocument/2006/relationships/slide" Target="slides/slide107.xml" /><Relationship Id="rId109" Type="http://schemas.openxmlformats.org/officeDocument/2006/relationships/slide" Target="slides/slide108.xml" /><Relationship Id="rId110" Type="http://schemas.openxmlformats.org/officeDocument/2006/relationships/slide" Target="slides/slide109.xml" /><Relationship Id="rId111" Type="http://schemas.openxmlformats.org/officeDocument/2006/relationships/slide" Target="slides/slide110.xml" /><Relationship Id="rId112" Type="http://schemas.openxmlformats.org/officeDocument/2006/relationships/slide" Target="slides/slide111.xml" /><Relationship Id="rId113" Type="http://schemas.openxmlformats.org/officeDocument/2006/relationships/slide" Target="slides/slide112.xml" /><Relationship Id="rId114" Type="http://schemas.openxmlformats.org/officeDocument/2006/relationships/slide" Target="slides/slide113.xml" /><Relationship Id="rId115" Type="http://schemas.openxmlformats.org/officeDocument/2006/relationships/slide" Target="slides/slide114.xml" /><Relationship Id="rId116" Type="http://schemas.openxmlformats.org/officeDocument/2006/relationships/slide" Target="slides/slide115.xml" /><Relationship Id="rId117" Type="http://schemas.openxmlformats.org/officeDocument/2006/relationships/slide" Target="slides/slide116.xml" /><Relationship Id="rId118" Type="http://schemas.openxmlformats.org/officeDocument/2006/relationships/slide" Target="slides/slide117.xml" /><Relationship Id="rId119" Type="http://schemas.openxmlformats.org/officeDocument/2006/relationships/slide" Target="slides/slide118.xml" /><Relationship Id="rId120" Type="http://schemas.openxmlformats.org/officeDocument/2006/relationships/slide" Target="slides/slide119.xml" /><Relationship Id="rId121" Type="http://schemas.openxmlformats.org/officeDocument/2006/relationships/slide" Target="slides/slide120.xml" /><Relationship Id="rId122" Type="http://schemas.openxmlformats.org/officeDocument/2006/relationships/slide" Target="slides/slide121.xml" /><Relationship Id="rId123" Type="http://schemas.openxmlformats.org/officeDocument/2006/relationships/slide" Target="slides/slide122.xml" /><Relationship Id="rId124" Type="http://schemas.openxmlformats.org/officeDocument/2006/relationships/slide" Target="slides/slide123.xml" /><Relationship Id="rId125" Type="http://schemas.openxmlformats.org/officeDocument/2006/relationships/slide" Target="slides/slide124.xml" /><Relationship Id="rId126" Type="http://schemas.openxmlformats.org/officeDocument/2006/relationships/slide" Target="slides/slide125.xml" /><Relationship Id="rId127" Type="http://schemas.openxmlformats.org/officeDocument/2006/relationships/slide" Target="slides/slide126.xml" /><Relationship Id="rId128" Type="http://schemas.openxmlformats.org/officeDocument/2006/relationships/slide" Target="slides/slide127.xml" /><Relationship Id="rId129" Type="http://schemas.openxmlformats.org/officeDocument/2006/relationships/slide" Target="slides/slide128.xml" /><Relationship Id="rId130" Type="http://schemas.openxmlformats.org/officeDocument/2006/relationships/slide" Target="slides/slide129.xml" /><Relationship Id="rId131" Type="http://schemas.openxmlformats.org/officeDocument/2006/relationships/slide" Target="slides/slide130.xml" /><Relationship Id="rId132" Type="http://schemas.openxmlformats.org/officeDocument/2006/relationships/slide" Target="slides/slide131.xml" /><Relationship Id="rId133" Type="http://schemas.openxmlformats.org/officeDocument/2006/relationships/slide" Target="slides/slide132.xml" /><Relationship Id="rId134" Type="http://schemas.openxmlformats.org/officeDocument/2006/relationships/slide" Target="slides/slide133.xml" /><Relationship Id="rId135" Type="http://schemas.openxmlformats.org/officeDocument/2006/relationships/slide" Target="slides/slide134.xml" /><Relationship Id="rId136" Type="http://schemas.openxmlformats.org/officeDocument/2006/relationships/slide" Target="slides/slide135.xml" /><Relationship Id="rId137" Type="http://schemas.openxmlformats.org/officeDocument/2006/relationships/slide" Target="slides/slide136.xml" /><Relationship Id="rId138" Type="http://schemas.openxmlformats.org/officeDocument/2006/relationships/slide" Target="slides/slide137.xml" /><Relationship Id="rId139" Type="http://schemas.openxmlformats.org/officeDocument/2006/relationships/slide" Target="slides/slide138.xml" /><Relationship Id="rId140" Type="http://schemas.openxmlformats.org/officeDocument/2006/relationships/slide" Target="slides/slide139.xml" /><Relationship Id="rId141" Type="http://schemas.openxmlformats.org/officeDocument/2006/relationships/slide" Target="slides/slide140.xml" /><Relationship Id="rId142" Type="http://schemas.openxmlformats.org/officeDocument/2006/relationships/slide" Target="slides/slide141.xml" /><Relationship Id="rId143" Type="http://schemas.openxmlformats.org/officeDocument/2006/relationships/slide" Target="slides/slide142.xml" /><Relationship Id="rId144" Type="http://schemas.openxmlformats.org/officeDocument/2006/relationships/slide" Target="slides/slide143.xml" /><Relationship Id="rId145" Type="http://schemas.openxmlformats.org/officeDocument/2006/relationships/slide" Target="slides/slide144.xml" /><Relationship Id="rId146" Type="http://schemas.openxmlformats.org/officeDocument/2006/relationships/slide" Target="slides/slide145.xml" /><Relationship Id="rId147" Type="http://schemas.openxmlformats.org/officeDocument/2006/relationships/slide" Target="slides/slide146.xml" /><Relationship Id="rId148" Type="http://schemas.openxmlformats.org/officeDocument/2006/relationships/slide" Target="slides/slide147.xml" /><Relationship Id="rId149" Type="http://schemas.openxmlformats.org/officeDocument/2006/relationships/slide" Target="slides/slide148.xml" /><Relationship Id="rId150" Type="http://schemas.openxmlformats.org/officeDocument/2006/relationships/slide" Target="slides/slide149.xml" /><Relationship Id="rId151" Type="http://schemas.openxmlformats.org/officeDocument/2006/relationships/slide" Target="slides/slide150.xml" /><Relationship Id="rId152" Type="http://schemas.openxmlformats.org/officeDocument/2006/relationships/slide" Target="slides/slide151.xml" /><Relationship Id="rId153" Type="http://schemas.openxmlformats.org/officeDocument/2006/relationships/slide" Target="slides/slide152.xml" /><Relationship Id="rId154" Type="http://schemas.openxmlformats.org/officeDocument/2006/relationships/slide" Target="slides/slide153.xml" /><Relationship Id="rId155" Type="http://schemas.openxmlformats.org/officeDocument/2006/relationships/slide" Target="slides/slide154.xml" /><Relationship Id="rId156" Type="http://schemas.openxmlformats.org/officeDocument/2006/relationships/slide" Target="slides/slide155.xml" /><Relationship Id="rId157" Type="http://schemas.openxmlformats.org/officeDocument/2006/relationships/slide" Target="slides/slide156.xml" /><Relationship Id="rId158" Type="http://schemas.openxmlformats.org/officeDocument/2006/relationships/slide" Target="slides/slide157.xml" /><Relationship Id="rId159" Type="http://schemas.openxmlformats.org/officeDocument/2006/relationships/slide" Target="slides/slide158.xml" /><Relationship Id="rId160" Type="http://schemas.openxmlformats.org/officeDocument/2006/relationships/slide" Target="slides/slide159.xml" /><Relationship Id="rId161" Type="http://schemas.openxmlformats.org/officeDocument/2006/relationships/slide" Target="slides/slide160.xml" /><Relationship Id="rId162" Type="http://schemas.openxmlformats.org/officeDocument/2006/relationships/slide" Target="slides/slide161.xml" /><Relationship Id="rId163" Type="http://schemas.openxmlformats.org/officeDocument/2006/relationships/slide" Target="slides/slide162.xml" /><Relationship Id="rId164" Type="http://schemas.openxmlformats.org/officeDocument/2006/relationships/slide" Target="slides/slide163.xml" /><Relationship Id="rId165" Type="http://schemas.openxmlformats.org/officeDocument/2006/relationships/slide" Target="slides/slide164.xml" /><Relationship Id="rId166" Type="http://schemas.openxmlformats.org/officeDocument/2006/relationships/slide" Target="slides/slide165.xml" /><Relationship Id="rId167" Type="http://schemas.openxmlformats.org/officeDocument/2006/relationships/slide" Target="slides/slide166.xml" /><Relationship Id="rId168" Type="http://schemas.openxmlformats.org/officeDocument/2006/relationships/slide" Target="slides/slide167.xml" /><Relationship Id="rId169" Type="http://schemas.openxmlformats.org/officeDocument/2006/relationships/slide" Target="slides/slide168.xml" /><Relationship Id="rId170" Type="http://schemas.openxmlformats.org/officeDocument/2006/relationships/slide" Target="slides/slide169.xml" /><Relationship Id="rId171" Type="http://schemas.openxmlformats.org/officeDocument/2006/relationships/slide" Target="slides/slide170.xml" /><Relationship Id="rId172" Type="http://schemas.openxmlformats.org/officeDocument/2006/relationships/slide" Target="slides/slide171.xml" /><Relationship Id="rId174" Type="http://schemas.openxmlformats.org/officeDocument/2006/relationships/viewProps" Target="viewProps.xml" /><Relationship Id="rId17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76" Type="http://schemas.openxmlformats.org/officeDocument/2006/relationships/tableStyles" Target="tableStyles.xml" /><Relationship Id="rId17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3.jpg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4.png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5.png" /></Relationships>
</file>

<file path=ppt/slides/_rels/slide5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6.png" /></Relationships>
</file>

<file path=ppt/slides/_rels/slide6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7.png" /></Relationships>
</file>

<file path=ppt/slides/_rels/slide6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8.png" /></Relationships>
</file>

<file path=ppt/slides/_rels/slide6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9.png" /></Relationships>
</file>

<file path=ppt/slides/_rels/slide6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0.png" /></Relationships>
</file>

<file path=ppt/slides/_rels/slide6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1.png" /></Relationships>
</file>

<file path=ppt/slides/_rels/slide6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2.png" /></Relationships>
</file>

<file path=ppt/slides/_rels/slide7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3.png" /></Relationships>
</file>

<file path=ppt/slides/_rels/slide9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4.png" /></Relationships>
</file>

<file path=ppt/slides/_rels/slide9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9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5.png" /></Relationships>
</file>

<file path=ppt/slides/_rels/slide10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6.png" /></Relationships>
</file>

<file path=ppt/slides/_rels/slide1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7.png" /></Relationships>
</file>

<file path=ppt/slides/_rels/slide1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8.png" /></Relationships>
</file>

<file path=ppt/slides/_rels/slide1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30.png" /><Relationship Id="rId2" Type="http://schemas.openxmlformats.org/officeDocument/2006/relationships/image" Target="../media/image29.png" /></Relationships>
</file>

<file path=ppt/slides/_rels/slide1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32.png" /><Relationship Id="rId2" Type="http://schemas.openxmlformats.org/officeDocument/2006/relationships/image" Target="../media/image31.png" /></Relationships>
</file>

<file path=ppt/slides/_rels/slide1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3.png" /></Relationships>
</file>

<file path=ppt/slides/_rels/slide1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4.png" /></Relationships>
</file>

<file path=ppt/slides/_rels/slide1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5.png" /></Relationships>
</file>

<file path=ppt/slides/_rels/slide1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6.png" /></Relationships>
</file>

<file path=ppt/slides/_rels/slide1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7.png" /></Relationships>
</file>

<file path=ppt/slides/_rels/slide1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8.png" /></Relationships>
</file>

<file path=ppt/slides/_rels/slide1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9.png" /></Relationships>
</file>

<file path=ppt/slides/_rels/slide1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0.png" /></Relationships>
</file>

<file path=ppt/slides/_rels/slide1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1.png" /></Relationships>
</file>

<file path=ppt/slides/_rels/slide1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2.png" /></Relationships>
</file>

<file path=ppt/slides/_rels/slide1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3.png" /></Relationships>
</file>

<file path=ppt/slides/_rels/slide1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4.png" /></Relationships>
</file>

<file path=ppt/slides/_rels/slide1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5.png" /></Relationships>
</file>

<file path=ppt/slides/_rels/slide1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6.png" /></Relationships>
</file>

<file path=ppt/slides/_rels/slide15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7.png" /></Relationships>
</file>

<file path=ppt/slides/_rels/slide15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8.png" /></Relationships>
</file>

<file path=ppt/slides/_rels/slide15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9.png" /></Relationships>
</file>

<file path=ppt/slides/_rels/slide15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0.png" /></Relationships>
</file>

<file path=ppt/slides/_rels/slide16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1.png" /></Relationships>
</file>

<file path=ppt/slides/_rels/slide16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2.png" /></Relationships>
</file>

<file path=ppt/slides/_rels/slide16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3.png" /></Relationships>
</file>

<file path=ppt/slides/_rels/slide16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4.png" /></Relationships>
</file>

<file path=ppt/slides/_rels/slide16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5.png" /></Relationships>
</file>

<file path=ppt/slides/_rels/slide16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6.png" /></Relationships>
</file>

<file path=ppt/slides/_rels/slide16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7.png" /></Relationships>
</file>

<file path=ppt/slides/_rels/slide16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8.png" /></Relationships>
</file>

<file path=ppt/slides/_rels/slide16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6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Konzeption Digitaler Inhalte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Dr. Tom Alby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2025-12-01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Sitzung 1: Einführung, Organisatorisches und Grundlage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Aus dem Modulhandbuch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Die Studierenden können Prozesse und Strukturen in der Informations- und Medienwirtschaft implementieren und Digital-Produkte entwickeln, indem sie</a:t>
            </a:r>
          </a:p>
          <a:p>
            <a:pPr lvl="0"/>
            <a:r>
              <a:rPr/>
              <a:t>digitale Inhalte, Daten- und Medienprodukte sowie interaktive Darstellungsformen beispielsweise mit Methoden der User Experience konzipieren und realisieren,</a:t>
            </a:r>
          </a:p>
          <a:p>
            <a:pPr lvl="0"/>
            <a:r>
              <a:rPr/>
              <a:t>um innovative Gestaltungsformate zu etablieren und damit Zielgruppen überprüfbar zu erreichen.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Aus dem Modulhandbuch, continued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Die Studierenden können digitale Transformation verantwortungsbewusst und adressatengerecht gestalten, indem sie</a:t>
            </a:r>
          </a:p>
          <a:p>
            <a:pPr lvl="0"/>
            <a:r>
              <a:rPr/>
              <a:t>Prozesse und Strukturen in der Informations- und Medienwirtschaft implementieren und digitale Produkte konzipieren und entwickeln;</a:t>
            </a:r>
          </a:p>
          <a:p>
            <a:pPr lvl="0"/>
            <a:r>
              <a:rPr/>
              <a:t>Informationen, Inhalte und Datenbestände erschließen, kuratieren, aufbereiten, lizenzieren und publizieren;</a:t>
            </a:r>
          </a:p>
          <a:p>
            <a:pPr lvl="0"/>
            <a:r>
              <a:rPr/>
              <a:t>Daten, digitale Medien und Technologien zielgruppenspezifisch vermitteln und kommunizieren.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Kursziele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Rolle von Daten: Unterschied zwischen Daten, Informationen und Erkenntnissen verstehen und digitale Inhalte daran ausrichten.</a:t>
            </a:r>
          </a:p>
          <a:p>
            <a:pPr lvl="0"/>
            <a:r>
              <a:rPr/>
              <a:t>Personalisierung und Empfehlung: Sie wenden einfache Segmentierungs‑ und Assoziationsverfahren an, um Inhalte zielgruppenspezifisch zu empfehlen.</a:t>
            </a:r>
          </a:p>
          <a:p>
            <a:pPr lvl="0"/>
            <a:r>
              <a:rPr/>
              <a:t>Erfolgsüberprüfung: Sie definieren und überprüfen relevante KPIs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Prüfungsleistung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Prüfungsleistung: 20‑minütiges Referat (mündliche Prüfung) und/oder 3–5‑seitiger Kurzbericht (schriftliche Prüfung): Segmentierung einer Zielgruppe auf Basis von Daten, Konzept eines Datenprodukts, Erfolgsdefinition und -Reportingkonzept.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Logistik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Teilnahme online möglich, keine Aufzeichnung</a:t>
            </a:r>
          </a:p>
          <a:p>
            <a:pPr lvl="0"/>
            <a:r>
              <a:rPr/>
              <a:t>Moodle Einschreibepasswort: CommanderData!</a:t>
            </a:r>
          </a:p>
          <a:p>
            <a:pPr lvl="0"/>
            <a:r>
              <a:rPr/>
              <a:t>ChatGPT &amp; Co sind ausdrücklich erlaubt, aber Sie müssen das Protokoll teilen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Definitionen: Was sind digitale Inhalte, Daten- und Medienprodukte?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Definitionen: Was sind “innovative Gestaltungsformate”?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Was bedeutet “überprüfbar erreichen”?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Was bedeutet…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“Prozesse und Strukturen in der Informations- und Medienwirtschaft implementieren und digitale Produkte konzipieren und entwickeln”?</a:t>
            </a:r>
          </a:p>
          <a:p>
            <a:pPr lvl="0"/>
            <a:r>
              <a:rPr/>
              <a:t>“Informationen, Inhalte und Datenbestände erschließen, kuratieren, aufbereiten, lizenzieren und publizieren”?</a:t>
            </a:r>
          </a:p>
          <a:p>
            <a:pPr lvl="0"/>
            <a:r>
              <a:rPr/>
              <a:t>“Daten, digitale Medien und Technologien zielgruppenspezifisch vermitteln und kommunizieren”?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Was sind Daten überhaupt?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i="1"/>
              <a:t>Daten</a:t>
            </a:r>
          </a:p>
          <a:p>
            <a:pPr lvl="1"/>
            <a:r>
              <a:rPr/>
              <a:t>Roh, ungeordnet, noch nicht interpretiert</a:t>
            </a:r>
          </a:p>
          <a:p>
            <a:pPr lvl="1"/>
            <a:r>
              <a:rPr/>
              <a:t>Bestehen aus Zahlen, Zeichen, Fakten ohne Kontext</a:t>
            </a:r>
          </a:p>
          <a:p>
            <a:pPr lvl="0"/>
            <a:r>
              <a:rPr i="1"/>
              <a:t>Informationen</a:t>
            </a:r>
          </a:p>
          <a:p>
            <a:pPr lvl="1"/>
            <a:r>
              <a:rPr/>
              <a:t>Verarbeitete, kontextualisierte Daten</a:t>
            </a:r>
          </a:p>
          <a:p>
            <a:pPr lvl="1"/>
            <a:r>
              <a:rPr/>
              <a:t>Haben Bedeutung und Relevanz für eine Fragestellung</a:t>
            </a:r>
          </a:p>
          <a:p>
            <a:pPr lvl="1"/>
            <a:r>
              <a:rPr b="1"/>
              <a:t>Daten + Kontext = Information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Datenkompetenz nach Ridsdale et al</a:t>
            </a:r>
          </a:p>
        </p:txBody>
      </p:sp>
      <p:pic>
        <p:nvPicPr>
          <p:cNvPr descr="images/Ridsdal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71700" y="1193800"/>
            <a:ext cx="4800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DIKW-Pyramide</a:t>
            </a:r>
          </a:p>
        </p:txBody>
      </p:sp>
      <p:pic>
        <p:nvPicPr>
          <p:cNvPr descr="images/dikw-pyramid-removebg-preview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565400" y="1193800"/>
            <a:ext cx="4013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Toms Pyramide</a:t>
            </a:r>
          </a:p>
        </p:txBody>
      </p:sp>
      <p:pic>
        <p:nvPicPr>
          <p:cNvPr descr="images/tattoo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32000" y="1193800"/>
            <a:ext cx="5080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Relevanz in der Aufmerksamkeitsökonomie</a:t>
            </a:r>
          </a:p>
        </p:txBody>
      </p:sp>
      <p:pic>
        <p:nvPicPr>
          <p:cNvPr descr="images/relevanc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84400" y="1193800"/>
            <a:ext cx="4775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Wie können wir Daten nutzen, um Relevanz zu erzeugen?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Aufmerksamkeit als knappes Gut</a:t>
            </a:r>
            <a:r>
              <a:rPr/>
              <a:t>: In der „Attention Economy“ zahlen Nutzer*innen mit ihrer Aufmerksamkeit; Informationsüberflutung erfordert filternde Mechanismen.</a:t>
            </a:r>
          </a:p>
          <a:p>
            <a:pPr lvl="0"/>
            <a:r>
              <a:rPr b="1"/>
              <a:t>Data Mining als Brücke</a:t>
            </a:r>
            <a:r>
              <a:rPr/>
              <a:t>: Data Mining extrahiert Muster und Korrelationen aus großen Datenmengen, um relevante Informationen zu erzeugen.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Beispiel: Newsletter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Was ist das Ziel/sind die Ziele eines Newsletters?</a:t>
            </a:r>
          </a:p>
          <a:p>
            <a:pPr lvl="0"/>
            <a:r>
              <a:rPr/>
              <a:t>Was sind mögliche KPIs?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Wie funktioniert Data Mining?</a:t>
            </a:r>
          </a:p>
        </p:txBody>
      </p:sp>
      <p:pic>
        <p:nvPicPr>
          <p:cNvPr descr="images/CRISP-DM_Process_Diagram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82900" y="1193800"/>
            <a:ext cx="3378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Mining-Sprachen und -Systeme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SPSS / PSPP</a:t>
            </a:r>
          </a:p>
          <a:p>
            <a:pPr lvl="0"/>
            <a:r>
              <a:rPr/>
              <a:t>SAS</a:t>
            </a:r>
          </a:p>
          <a:p>
            <a:pPr lvl="0"/>
            <a:r>
              <a:rPr/>
              <a:t>Python</a:t>
            </a:r>
          </a:p>
          <a:p>
            <a:pPr lvl="0"/>
            <a:r>
              <a:rPr/>
              <a:t>Scala</a:t>
            </a:r>
          </a:p>
          <a:p>
            <a:pPr lvl="0"/>
            <a:r>
              <a:rPr/>
              <a:t>Julia</a:t>
            </a:r>
          </a:p>
          <a:p>
            <a:pPr lvl="0"/>
            <a:r>
              <a:rPr/>
              <a:t>R</a:t>
            </a:r>
          </a:p>
          <a:p>
            <a:pPr lvl="0"/>
            <a:r>
              <a:rPr/>
              <a:t>Knime</a:t>
            </a:r>
          </a:p>
          <a:p>
            <a:pPr lvl="0"/>
            <a:r>
              <a:rPr/>
              <a:t>…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Welche Inhalte wünschen Sie sich noch?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Nächste Schritte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Überlegen Sie sich ein Thema für ein digitales Produkt</a:t>
            </a:r>
          </a:p>
          <a:p>
            <a:pPr lvl="0"/>
            <a:r>
              <a:rPr/>
              <a:t>Identifizieren Sie Daten, die die Zielgruppe definieren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Sitzung 2: Daten-Akquise und -Überprüfung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Datenquellen: Primärdaten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Interviews</a:t>
            </a:r>
          </a:p>
          <a:p>
            <a:pPr lvl="0"/>
            <a:r>
              <a:rPr/>
              <a:t>Umfragen</a:t>
            </a:r>
          </a:p>
          <a:p>
            <a:pPr lvl="0"/>
            <a:r>
              <a:rPr/>
              <a:t>Experimente / Messungen</a:t>
            </a:r>
          </a:p>
          <a:p>
            <a:pPr lvl="0"/>
            <a:r>
              <a:rPr/>
              <a:t>Tracking (eigene Tools oder Tools Dritter)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Datenquellen: Sekundärdaten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Statistisches Bundesamt</a:t>
            </a:r>
          </a:p>
          <a:p>
            <a:pPr lvl="0"/>
            <a:r>
              <a:rPr/>
              <a:t>GfK, Brandindex, Statista</a:t>
            </a:r>
          </a:p>
          <a:p>
            <a:pPr lvl="0"/>
            <a:r>
              <a:rPr/>
              <a:t>Open-Data-Portale</a:t>
            </a:r>
          </a:p>
          <a:p>
            <a:pPr lvl="0"/>
            <a:r>
              <a:rPr/>
              <a:t>Google-Tools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Fragen zur Datenqualität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Wer hat die Daten erhoben?</a:t>
            </a:r>
          </a:p>
          <a:p>
            <a:pPr lvl="0"/>
            <a:r>
              <a:rPr/>
              <a:t>Zu welchem Zweck?</a:t>
            </a:r>
          </a:p>
          <a:p>
            <a:pPr lvl="0"/>
            <a:r>
              <a:rPr/>
              <a:t>Ist die Stichprobe repräsentativ?</a:t>
            </a:r>
          </a:p>
          <a:p>
            <a:pPr lvl="0"/>
            <a:r>
              <a:rPr/>
              <a:t>Sind die Variablen klar definiert?</a:t>
            </a:r>
          </a:p>
          <a:p>
            <a:pPr lvl="0"/>
            <a:r>
              <a:rPr/>
              <a:t>Sind die Befragten voreingenommen?</a:t>
            </a:r>
          </a:p>
          <a:p>
            <a:pPr lvl="0"/>
            <a:r>
              <a:rPr/>
              <a:t>Wie zuverlässig (reliabel) und gültig (valide) sind die Messungen?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Reliabilität &amp; Validität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Reliabilität</a:t>
            </a:r>
            <a:br/>
            <a:r>
              <a:rPr/>
              <a:t>- Misst das Instrument konsistent?</a:t>
            </a:r>
            <a:br/>
            <a:r>
              <a:rPr/>
              <a:t>- Beispiel: Wiederholte Befragung führt zu ähnlichen Ergebnissen.</a:t>
            </a:r>
          </a:p>
          <a:p>
            <a:pPr lvl="0" indent="0" marL="0">
              <a:buNone/>
            </a:pPr>
            <a:r>
              <a:rPr b="1"/>
              <a:t>Validität</a:t>
            </a:r>
            <a:br/>
            <a:r>
              <a:rPr/>
              <a:t>- Misst das Instrument, was es messen soll?</a:t>
            </a:r>
            <a:br/>
            <a:r>
              <a:rPr/>
              <a:t>- Beispiel: „Zufriedenheit“ darf nicht nur mit „Häufigkeit der Nutzung“ gleichgesetzt werden.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Häufige Probleme bei Stichproben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Convenience Sampling:</a:t>
            </a:r>
            <a:r>
              <a:rPr/>
              <a:t> Auswahl der Personen, die leicht erreichbar sind – aber nicht repräsentativ.</a:t>
            </a:r>
          </a:p>
          <a:p>
            <a:pPr lvl="0"/>
            <a:r>
              <a:rPr b="1"/>
              <a:t>Non-Response-Bias:</a:t>
            </a:r>
            <a:r>
              <a:rPr/>
              <a:t> Bestimmte Gruppen nehmen systematisch nicht teil.</a:t>
            </a:r>
          </a:p>
          <a:p>
            <a:pPr lvl="0"/>
            <a:r>
              <a:rPr b="1"/>
              <a:t>Kulturelle Antwortverzerrung:</a:t>
            </a:r>
            <a:r>
              <a:rPr/>
              <a:t> Ein „Nein“ ist in manchen Kulturen sozial unerwünscht.</a:t>
            </a:r>
          </a:p>
          <a:p>
            <a:pPr lvl="0"/>
            <a:r>
              <a:rPr b="1"/>
              <a:t>Soziale Erwünschtheit:</a:t>
            </a:r>
            <a:r>
              <a:rPr/>
              <a:t> Menschen geben Antworten, die gut klingen – nicht unbedingt die Wahrheit.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Website-Umfrage</a:t>
            </a:r>
          </a:p>
        </p:txBody>
      </p:sp>
      <p:pic>
        <p:nvPicPr>
          <p:cNvPr descr="images/hp-umfrage-websit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11400" y="1193800"/>
            <a:ext cx="4508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Umfrage vor Weiterleitung</a:t>
            </a:r>
          </a:p>
        </p:txBody>
      </p:sp>
      <p:pic>
        <p:nvPicPr>
          <p:cNvPr descr="images/google-umfr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187700" y="1193800"/>
            <a:ext cx="2755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Soziale Erwünschtheit</a:t>
            </a:r>
          </a:p>
        </p:txBody>
      </p:sp>
      <p:pic>
        <p:nvPicPr>
          <p:cNvPr descr="images/adblock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81300" y="1193800"/>
            <a:ext cx="35941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Glauben Sie das?</a:t>
            </a:r>
          </a:p>
        </p:txBody>
      </p:sp>
      <p:pic>
        <p:nvPicPr>
          <p:cNvPr descr="images/b4p_Fake_News_gallery11-768x549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97100" y="1193800"/>
            <a:ext cx="4749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Wie waren die Fragen eigentlich gestellt?</a:t>
            </a:r>
          </a:p>
        </p:txBody>
      </p:sp>
      <p:pic>
        <p:nvPicPr>
          <p:cNvPr descr="images/b4p-frage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71700" y="1193800"/>
            <a:ext cx="4787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Wie kommt es zu dem Ergebnis?</a:t>
            </a:r>
          </a:p>
        </p:txBody>
      </p:sp>
      <p:pic>
        <p:nvPicPr>
          <p:cNvPr descr="images/b4p-date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536700"/>
            <a:ext cx="8229600" cy="2692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Beispiele für Umfrageverzerrungen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Beschreibung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 Bias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Tendenz, Aussagen zuzustimmen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Bias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Tendenz, Aussagen abzulehnen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Middle Bias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Auswahl neutraler Antwortoptionen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Logical Response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Überrationalisiertes Antworten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Convenience Sampling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Auswahl leicht erreichbarer Personen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Weitere typische Verzerrungen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Recall Bias:</a:t>
            </a:r>
            <a:r>
              <a:rPr/>
              <a:t> Falsche Erinnerung bei retrospektiven Fragen.</a:t>
            </a:r>
          </a:p>
          <a:p>
            <a:pPr lvl="0"/>
            <a:r>
              <a:rPr b="1"/>
              <a:t>Survivorship Bias:</a:t>
            </a:r>
            <a:r>
              <a:rPr/>
              <a:t> Nur „Überlebende“ werden betrachtet, z. B. erfolgreiche Start-ups.</a:t>
            </a:r>
          </a:p>
          <a:p>
            <a:pPr lvl="0"/>
            <a:r>
              <a:rPr b="1"/>
              <a:t>Algorithmic Bias:</a:t>
            </a:r>
            <a:r>
              <a:rPr/>
              <a:t> Verzerrte Trainingsdaten führen zu unfairen Modellen.</a:t>
            </a:r>
          </a:p>
          <a:p>
            <a:pPr lvl="0"/>
            <a:r>
              <a:rPr b="1"/>
              <a:t>Availability Bias:</a:t>
            </a:r>
            <a:r>
              <a:rPr/>
              <a:t> Häufig Gehörtes wird überschätzt.</a:t>
            </a:r>
          </a:p>
          <a:p>
            <a:pPr lvl="0"/>
            <a:r>
              <a:rPr b="1"/>
              <a:t>Confirmation Bias:</a:t>
            </a:r>
            <a:r>
              <a:rPr/>
              <a:t> Suche nach bestätigenden Informationen.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Der Bestätigungsfehler (Confirmation Bias)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Wir suchen bevorzugt nach Daten, die unsere Meinung </a:t>
            </a:r>
            <a:r>
              <a:rPr b="1"/>
              <a:t>bestätigen</a:t>
            </a:r>
            <a:r>
              <a:rPr/>
              <a:t>.</a:t>
            </a:r>
          </a:p>
          <a:p>
            <a:pPr lvl="0"/>
            <a:r>
              <a:rPr/>
              <a:t>Widersprüchliche Daten werden ignoriert</a:t>
            </a:r>
          </a:p>
          <a:p>
            <a:pPr lvl="0"/>
            <a:r>
              <a:rPr/>
              <a:t>Unterstützende Daten werden überbewertet</a:t>
            </a:r>
          </a:p>
          <a:p>
            <a:pPr lvl="0"/>
            <a:r>
              <a:rPr/>
              <a:t>„Cherry Picking“ bei der Datenauswahl</a:t>
            </a:r>
          </a:p>
          <a:p>
            <a:pPr lvl="0" indent="0" marL="0">
              <a:buNone/>
            </a:pPr>
            <a:r>
              <a:rPr b="1"/>
              <a:t>Das größte Risiko für Verzerrung sind wir selbst.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Survivorship Bias</a:t>
            </a:r>
          </a:p>
        </p:txBody>
      </p:sp>
      <p:pic>
        <p:nvPicPr>
          <p:cNvPr descr="images/Survivorship-bias.sv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98700" y="1193800"/>
            <a:ext cx="4546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Survivorship Bias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(Verzerrung zugunsten der Überlebenden)</a:t>
            </a:r>
          </a:p>
          <a:p>
            <a:pPr lvl="0"/>
            <a:r>
              <a:rPr/>
              <a:t>Wir sehen nur die „Überlebenden“ – also erfolgreiche Fälle</a:t>
            </a:r>
          </a:p>
          <a:p>
            <a:pPr lvl="0"/>
            <a:r>
              <a:rPr/>
              <a:t>Gescheiterte Beispiele fehlen in den Daten</a:t>
            </a:r>
          </a:p>
          <a:p>
            <a:pPr lvl="0"/>
            <a:r>
              <a:rPr/>
              <a:t>Führt zu falschen Schlussfolgerungen über Erfolg</a:t>
            </a:r>
          </a:p>
          <a:p>
            <a:pPr lvl="0" indent="0" marL="0">
              <a:buNone/>
            </a:pPr>
            <a:r>
              <a:rPr i="1"/>
              <a:t>Beispiel:</a:t>
            </a:r>
            <a:r>
              <a:rPr/>
              <a:t> Analyse erfolgreicher Start-ups ohne Berücksichtigung der gescheiterten.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Stichprobenverzerrung</a:t>
            </a:r>
          </a:p>
        </p:txBody>
      </p:sp>
      <p:pic>
        <p:nvPicPr>
          <p:cNvPr descr="images/Ottenser_Hauptstraße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11400" y="1193800"/>
            <a:ext cx="4521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Stichprobenverzerrung</a:t>
            </a:r>
          </a:p>
        </p:txBody>
      </p:sp>
      <p:pic>
        <p:nvPicPr>
          <p:cNvPr descr="images/pinteres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057400"/>
            <a:ext cx="8229600" cy="1663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Fallbeispiel: Der Fehler der </a:t>
            </a:r>
            <a:r>
              <a:rPr i="1"/>
              <a:t>Literary Digest</a:t>
            </a:r>
            <a:r>
              <a:rPr/>
              <a:t>-Umfrage (1936)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Befragte Leser, Auto- und Telefonbesitzer</a:t>
            </a:r>
          </a:p>
          <a:p>
            <a:pPr lvl="0"/>
            <a:r>
              <a:rPr/>
              <a:t>Ergebnis: Landon gewinnt gegen Roosevelt</a:t>
            </a:r>
          </a:p>
          <a:p>
            <a:pPr lvl="0"/>
            <a:r>
              <a:rPr/>
              <a:t>Realität: Roosevelt siegte deutlich</a:t>
            </a:r>
          </a:p>
          <a:p>
            <a:pPr lvl="0"/>
            <a:r>
              <a:rPr/>
              <a:t>Ursache: </a:t>
            </a:r>
            <a:r>
              <a:rPr b="1"/>
              <a:t>Selection Bias</a:t>
            </a:r>
            <a:r>
              <a:rPr/>
              <a:t> – wohlhabende Befragte waren überrepräsentiert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Stichprobenverzerrung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Systematische Abweichung durch fehlerhafte Auswahl</a:t>
            </a:r>
          </a:p>
          <a:p>
            <a:pPr lvl="0"/>
            <a:r>
              <a:rPr/>
              <a:t>Auch große Stichproben helfen nicht, wenn sie nicht zufällig sind</a:t>
            </a:r>
          </a:p>
          <a:p>
            <a:pPr lvl="0"/>
            <a:r>
              <a:rPr/>
              <a:t>Beispiel: Online-Umfragen erreichen nur digital affine Personen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Gegenmaßnahmen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Kritische Prüfung von Datenquellen und Methoden</a:t>
            </a:r>
          </a:p>
          <a:p>
            <a:pPr lvl="0"/>
            <a:r>
              <a:rPr/>
              <a:t>Kombination mehrerer Quellen (Triangulation)</a:t>
            </a:r>
          </a:p>
          <a:p>
            <a:pPr lvl="0"/>
            <a:r>
              <a:rPr/>
              <a:t>Dokumentation der Stichprobenverfahren</a:t>
            </a:r>
          </a:p>
          <a:p>
            <a:pPr lvl="0"/>
            <a:r>
              <a:rPr/>
              <a:t>Qualitative Validierung der Ergebnisse</a:t>
            </a:r>
          </a:p>
          <a:p>
            <a:pPr lvl="0"/>
            <a:r>
              <a:rPr/>
              <a:t>Randomisierung oder Stratifizierung</a:t>
            </a:r>
          </a:p>
          <a:p>
            <a:pPr lvl="0"/>
            <a:r>
              <a:rPr/>
              <a:t>Sensitivitätsanalyse: Wie stabil sind Ergebnisse bei Annahmeänderungen?</a:t>
            </a:r>
          </a:p>
          <a:p>
            <a:pPr lvl="0"/>
            <a:r>
              <a:rPr/>
              <a:t>Bewusstsein für eigene kognitiven Verzerrungen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Stratifizierung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Definition:</a:t>
            </a:r>
            <a:br/>
            <a:r>
              <a:rPr/>
              <a:t>Unterteilung der Grundgesamtheit in </a:t>
            </a:r>
            <a:r>
              <a:rPr b="1"/>
              <a:t>Teilgruppen (Strata)</a:t>
            </a:r>
            <a:r>
              <a:rPr/>
              <a:t> mit ähnlichen Merkmalen, bevor daraus zufällig gezogen wird.</a:t>
            </a:r>
          </a:p>
          <a:p>
            <a:pPr lvl="0" indent="0" marL="0">
              <a:buNone/>
            </a:pPr>
            <a:r>
              <a:rPr b="1"/>
              <a:t>Beispiel:</a:t>
            </a:r>
            <a:br/>
            <a:r>
              <a:rPr/>
              <a:t>Bei einer Umfrage in Deutschland werden die Teilnehmenden zunächst nach Geschlecht (m / w / d), Altersgruppen (18–29, 30–49, 50+), Region (Nord, Süd, Ost, West)</a:t>
            </a:r>
            <a:br/>
            <a:r>
              <a:rPr/>
              <a:t>eingeteilt. Anschließend erfolgt die Zufallsauswahl </a:t>
            </a:r>
            <a:r>
              <a:rPr b="1"/>
              <a:t>innerhalb jedes Stratum</a:t>
            </a:r>
            <a:r>
              <a:rPr/>
              <a:t>.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Nächste Schritte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Überlegen Sie sich ein Thema für ein digitales Produkt</a:t>
            </a:r>
          </a:p>
          <a:p>
            <a:pPr lvl="0"/>
            <a:r>
              <a:rPr/>
              <a:t>Identifizieren Sie Daten, die die Zielgruppe definieren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Sitzung 3: Lean Content Strategy Canvas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Bitte beachten Sie die Templates im Moodle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Sitzung 4: Besprechung Canvases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Review der Canvases aus Session 3</a:t>
            </a:r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Sitzung 5: Wie kommen Nutzer zu meinen Inhalten?</a:t>
            </a:r>
          </a:p>
        </p:txBody>
      </p:sp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Wie finden Nutzer meine Inhalte?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…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Push vs. Pull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Teilen Sie Ihnen bekannte Kanäle ein!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Owned / Earned / Paid Media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Owned = du kontrollierst es</a:t>
            </a:r>
          </a:p>
          <a:p>
            <a:pPr lvl="0"/>
            <a:r>
              <a:rPr/>
              <a:t>Earned = andere reden über dich</a:t>
            </a:r>
          </a:p>
          <a:p>
            <a:pPr lvl="0"/>
            <a:r>
              <a:rPr/>
              <a:t>Paid = du kaufst dir Aufmerksamkeit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Wie wird man Influencer? (aus letzter Session)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Rage Bait / Click Bait</a:t>
            </a:r>
          </a:p>
          <a:p>
            <a:pPr lvl="0"/>
            <a:r>
              <a:rPr/>
              <a:t>Community durch USP</a:t>
            </a:r>
          </a:p>
          <a:p>
            <a:pPr lvl="0"/>
            <a:r>
              <a:rPr/>
              <a:t>Regelmäßige Posts, jeden Tag, verschiedene Formate, mehrere Plattformen</a:t>
            </a:r>
          </a:p>
          <a:p>
            <a:pPr lvl="0"/>
            <a:r>
              <a:rPr/>
              <a:t>Stringenz im Content, Spezialisierung</a:t>
            </a:r>
          </a:p>
          <a:p>
            <a:pPr lvl="0"/>
            <a:r>
              <a:rPr/>
              <a:t>Shitstorms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Inhalte als Lead-Magnet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„Was bekomme ich, wenn ich Ihnen meine Aufmerksamkeit (oder E-Mail) gebe?“</a:t>
            </a:r>
          </a:p>
          <a:p>
            <a:pPr lvl="0"/>
            <a:r>
              <a:rPr/>
              <a:t>Typische Lead-Magneten: Whitepaper, Checklisten, Tools, exklusive Dashboards.</a:t>
            </a:r>
          </a:p>
          <a:p>
            <a:pPr lvl="0"/>
            <a:r>
              <a:rPr/>
              <a:t>Verbindung zu Content Value Proposition?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Das LIFT-Modell</a:t>
            </a:r>
          </a:p>
        </p:txBody>
      </p:sp>
      <p:pic>
        <p:nvPicPr>
          <p:cNvPr descr="images/lift-model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12900" y="1193800"/>
            <a:ext cx="5905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Die neue Herausforderung: AEO &amp; GEO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SEO: Search Engine Optimization</a:t>
            </a:r>
          </a:p>
          <a:p>
            <a:pPr lvl="0"/>
            <a:r>
              <a:rPr/>
              <a:t>AEO: Answer Engine Optimization</a:t>
            </a:r>
          </a:p>
          <a:p>
            <a:pPr lvl="0"/>
            <a:r>
              <a:rPr/>
              <a:t>GEO: Generative Engine Optimization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Der Alligator</a:t>
            </a:r>
          </a:p>
        </p:txBody>
      </p:sp>
      <p:pic>
        <p:nvPicPr>
          <p:cNvPr descr="images/alligato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62100" y="1193800"/>
            <a:ext cx="6032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Real Estate geht verloren</a:t>
            </a:r>
          </a:p>
        </p:txBody>
      </p:sp>
      <p:pic>
        <p:nvPicPr>
          <p:cNvPr descr="images/real-estate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47900" y="1193800"/>
            <a:ext cx="466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Real Estate geht verloren</a:t>
            </a:r>
          </a:p>
        </p:txBody>
      </p:sp>
      <p:pic>
        <p:nvPicPr>
          <p:cNvPr descr="images/real-estate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47900" y="1193800"/>
            <a:ext cx="466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Real Estate geht verloren</a:t>
            </a:r>
          </a:p>
        </p:txBody>
      </p:sp>
      <p:pic>
        <p:nvPicPr>
          <p:cNvPr descr="images/real-estate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47900" y="1193800"/>
            <a:ext cx="466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Real Estate geht verloren</a:t>
            </a:r>
          </a:p>
        </p:txBody>
      </p:sp>
      <p:pic>
        <p:nvPicPr>
          <p:cNvPr descr="images/chatgpt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46300" y="1193800"/>
            <a:ext cx="48641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Real Estate geht verloren</a:t>
            </a:r>
          </a:p>
        </p:txBody>
      </p:sp>
      <p:pic>
        <p:nvPicPr>
          <p:cNvPr descr="images/chatgpt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46300" y="1193800"/>
            <a:ext cx="48641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Nutzerverhalten 2024–2025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Große Verschiebung bei den Jüngeren: ChatGPT, TikTok und Instagram für Suche</a:t>
            </a:r>
          </a:p>
          <a:p>
            <a:pPr lvl="0"/>
            <a:r>
              <a:rPr/>
              <a:t>Claneo-Studie 2025:</a:t>
            </a:r>
          </a:p>
          <a:p>
            <a:pPr lvl="1"/>
            <a:r>
              <a:rPr b="1"/>
              <a:t>KI-Chatbots</a:t>
            </a:r>
            <a:r>
              <a:rPr/>
              <a:t>: Nutzung 18 % (2024) → 33 % (2025)</a:t>
            </a:r>
          </a:p>
          <a:p>
            <a:pPr lvl="1"/>
            <a:r>
              <a:rPr b="1"/>
              <a:t>KI-Suchmaschinen</a:t>
            </a:r>
            <a:r>
              <a:rPr/>
              <a:t> (Perplexity etc.) 14 % → 17 %</a:t>
            </a:r>
          </a:p>
          <a:p>
            <a:pPr lvl="1"/>
            <a:r>
              <a:rPr b="1"/>
              <a:t>Klassische Suchmaschinen</a:t>
            </a:r>
            <a:r>
              <a:rPr/>
              <a:t> sinken leicht, bleiben aber dominant.</a:t>
            </a:r>
            <a:br/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Diskussion: Wo liegt meine Audience?</a:t>
            </a:r>
          </a:p>
        </p:txBody>
      </p:sp>
    </p:spTree>
  </p:cSld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Nächste Schritte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Bitte überarbeiten Sie Ihre Canvases in Bezug auf die Kanäle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Sitzung 6: Erfolgsmessung</a:t>
            </a:r>
          </a:p>
        </p:txBody>
      </p:sp>
    </p:spTree>
  </p:cSld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Warum Erfolgsmessung?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Ohne klare Ziele sind Metriken bedeutungslos</a:t>
            </a:r>
          </a:p>
          <a:p>
            <a:pPr lvl="0"/>
            <a:r>
              <a:rPr/>
              <a:t>Wie zahlt eine Website/App auf das Businessziel ein?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Ziele (Business Outcomes)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Mehr Leads</a:t>
            </a:r>
          </a:p>
          <a:p>
            <a:pPr lvl="0"/>
            <a:r>
              <a:rPr/>
              <a:t>Mehr Anmeldungen</a:t>
            </a:r>
          </a:p>
          <a:p>
            <a:pPr lvl="0"/>
            <a:r>
              <a:rPr/>
              <a:t>Mehr aktive Nutzer (Werbeeinblendungen)</a:t>
            </a:r>
          </a:p>
          <a:p>
            <a:pPr lvl="0"/>
            <a:r>
              <a:rPr/>
              <a:t>Mehr Abschlüsse / Käufe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Conversions (Content-Abschlüsse)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Newsletter-Anmeldung</a:t>
            </a:r>
          </a:p>
          <a:p>
            <a:pPr lvl="0"/>
            <a:r>
              <a:rPr/>
              <a:t>PDF-Download</a:t>
            </a:r>
          </a:p>
          <a:p>
            <a:pPr lvl="0"/>
            <a:r>
              <a:rPr/>
              <a:t>Formularabschluss</a:t>
            </a:r>
          </a:p>
          <a:p>
            <a:pPr lvl="0"/>
            <a:r>
              <a:rPr/>
              <a:t>Video bis 75 % (falls Hauptzweck)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Micro-Conversions (Frühindikatoren)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Scrolltiefe</a:t>
            </a:r>
          </a:p>
          <a:p>
            <a:pPr lvl="0"/>
            <a:r>
              <a:rPr/>
              <a:t>Element Visibility</a:t>
            </a:r>
          </a:p>
          <a:p>
            <a:pPr lvl="0"/>
            <a:r>
              <a:rPr/>
              <a:t>Formularstart</a:t>
            </a:r>
          </a:p>
          <a:p>
            <a:pPr lvl="0"/>
            <a:r>
              <a:rPr/>
              <a:t>Klicks auf Module (Tabs, Slider, Quiz)</a:t>
            </a:r>
          </a:p>
          <a:p>
            <a:pPr lvl="0"/>
            <a:r>
              <a:rPr/>
              <a:t>Copy-to-Clipboard</a:t>
            </a:r>
          </a:p>
          <a:p>
            <a:pPr lvl="0"/>
            <a:r>
              <a:rPr/>
              <a:t>Video-Start oder 25 % Fortschritt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Keine guten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Zeit auf Seite / Engaged Sessions</a:t>
            </a:r>
          </a:p>
          <a:p>
            <a:pPr lvl="0"/>
            <a:r>
              <a:rPr/>
              <a:t>Seiten/Sitzung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Scrolltiefe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Erfasst, wie weit Nutzer tatsächlich auf einer Seite nach unten gelangen</a:t>
            </a:r>
          </a:p>
          <a:p>
            <a:pPr lvl="0"/>
            <a:r>
              <a:rPr/>
              <a:t>Geringe Scrolltiefe + hohe Absprungrate → falsches Thema oder schwacher Einstieg</a:t>
            </a:r>
          </a:p>
          <a:p>
            <a:pPr lvl="0"/>
            <a:r>
              <a:rPr/>
              <a:t>Hohe Scrolltiefe + wenige Conversions → Interesse vorhanden, CTA/Angebot zu schwach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Element Visibility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Misst, ob ein Element im </a:t>
            </a:r>
            <a:r>
              <a:rPr b="1"/>
              <a:t>Viewport</a:t>
            </a:r>
            <a:r>
              <a:rPr/>
              <a:t> sichtbar war</a:t>
            </a:r>
          </a:p>
          <a:p>
            <a:pPr lvl="0"/>
            <a:r>
              <a:rPr/>
              <a:t>Relevante Elemente: CTA, Download-Box, Formular, Produkt-Highlights</a:t>
            </a:r>
          </a:p>
          <a:p>
            <a:pPr lvl="0" indent="0" marL="0">
              <a:buNone/>
            </a:pPr>
            <a:r>
              <a:rPr b="1"/>
              <a:t>Nutzen:</a:t>
            </a:r>
            <a:br/>
            <a:r>
              <a:rPr/>
              <a:t>- Sichtbarkeit ≠ Klicks</a:t>
            </a:r>
            <a:br/>
            <a:r>
              <a:rPr/>
              <a:t>- Beispiel: „CTA wurde von 42 % gesehen, aber nur 3 % klickten“ → klare Optimierungsrichtung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Tools: Tag Manager</a:t>
            </a:r>
          </a:p>
        </p:txBody>
      </p:sp>
      <p:pic>
        <p:nvPicPr>
          <p:cNvPr descr="images/Google-Tag-Manager-und-Google-Analytic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14500" y="1193800"/>
            <a:ext cx="5715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Tools: Matomo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Datensouveränität, DSGVO-freundlich</a:t>
            </a:r>
          </a:p>
          <a:p>
            <a:pPr lvl="0"/>
            <a:r>
              <a:rPr/>
              <a:t>On-Premise möglich</a:t>
            </a:r>
          </a:p>
          <a:p>
            <a:pPr lvl="0"/>
            <a:r>
              <a:rPr/>
              <a:t>Transparentes Event-Tracking</a:t>
            </a:r>
          </a:p>
          <a:p>
            <a:pPr lvl="0"/>
            <a:r>
              <a:rPr/>
              <a:t>Klassisches Webanalyse-Modell - Demo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Tools: Google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- Ereignisbasiertes Datenmodell</a:t>
            </a:r>
            <a:br/>
            <a:r>
              <a:rPr/>
              <a:t>- Automatische Events (Scrolls, Engagement, Outbound) - Kann auch Apps und Cross-Device Tracking - Moderne Metriken (Engaged Sessions, Predictive Signals)</a:t>
            </a:r>
            <a:br/>
            <a:r>
              <a:rPr/>
              <a:t>- Demo</a:t>
            </a:r>
          </a:p>
        </p:txBody>
      </p:sp>
    </p:spTree>
  </p:cSld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KPIs: Reichweite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Unique Users</a:t>
            </a:r>
          </a:p>
          <a:p>
            <a:pPr lvl="0"/>
            <a:r>
              <a:rPr/>
              <a:t>Daily / Weekly / Monthly Active Users (DAU/WAU/MAU)</a:t>
            </a:r>
          </a:p>
          <a:p>
            <a:pPr lvl="0"/>
            <a:r>
              <a:rPr/>
              <a:t>Installs / First Opens (App)</a:t>
            </a:r>
          </a:p>
          <a:p>
            <a:pPr lvl="0"/>
            <a:r>
              <a:rPr/>
              <a:t>Traffic-Quellen</a:t>
            </a:r>
          </a:p>
          <a:p>
            <a:pPr lvl="0"/>
            <a:r>
              <a:rPr/>
              <a:t>Returning Visitor/User Rate</a:t>
            </a:r>
          </a:p>
          <a:p>
            <a:pPr lvl="0"/>
            <a:r>
              <a:rPr/>
              <a:t>Visibility in AEO/GEO (AI Overviews, Chatbot-Responses)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KPIs: Engagement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Session Frequency (Sessions/User/Tag oder Woche)</a:t>
            </a:r>
          </a:p>
          <a:p>
            <a:pPr lvl="0"/>
            <a:r>
              <a:rPr/>
              <a:t>Average Session Duration</a:t>
            </a:r>
          </a:p>
          <a:p>
            <a:pPr lvl="0"/>
            <a:r>
              <a:rPr/>
              <a:t>Screens per Session (App)</a:t>
            </a:r>
          </a:p>
          <a:p>
            <a:pPr lvl="0"/>
            <a:r>
              <a:rPr/>
              <a:t>Scrolltiefe (Web)</a:t>
            </a:r>
          </a:p>
          <a:p>
            <a:pPr lvl="0"/>
            <a:r>
              <a:rPr/>
              <a:t>Element Visibility (Web)</a:t>
            </a:r>
          </a:p>
          <a:p>
            <a:pPr lvl="0"/>
            <a:r>
              <a:rPr/>
              <a:t>Video-Metriken: Play Rate, Watch Time, Completion</a:t>
            </a:r>
          </a:p>
          <a:p>
            <a:pPr lvl="0"/>
            <a:r>
              <a:rPr/>
              <a:t>Feature Usage (App)</a:t>
            </a:r>
          </a:p>
          <a:p>
            <a:pPr lvl="0"/>
            <a:r>
              <a:rPr/>
              <a:t>In-App Events (z. B. „Added to Favourites“, „Completed Task“)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KPIs: Interaktion (Micro-Conversions)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CTA-Klicks</a:t>
            </a:r>
          </a:p>
          <a:p>
            <a:pPr lvl="0"/>
            <a:r>
              <a:rPr/>
              <a:t>Downloads (PDF, Asset, Datei)</a:t>
            </a:r>
          </a:p>
          <a:p>
            <a:pPr lvl="0"/>
            <a:r>
              <a:rPr/>
              <a:t>Formularstarts / Abbrüche</a:t>
            </a:r>
          </a:p>
          <a:p>
            <a:pPr lvl="0"/>
            <a:r>
              <a:rPr/>
              <a:t>Copy-to-Clipboard</a:t>
            </a:r>
          </a:p>
          <a:p>
            <a:pPr lvl="0"/>
            <a:r>
              <a:rPr/>
              <a:t>Onboarding Completion (App)</a:t>
            </a:r>
          </a:p>
          <a:p>
            <a:pPr lvl="0"/>
            <a:r>
              <a:rPr/>
              <a:t>Push-Notification Opt-in / Interaktion</a:t>
            </a:r>
          </a:p>
          <a:p>
            <a:pPr lvl="0"/>
            <a:r>
              <a:rPr/>
              <a:t>Deep-Link Events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KPIs: Conversion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Registrierungen</a:t>
            </a:r>
          </a:p>
          <a:p>
            <a:pPr lvl="0"/>
            <a:r>
              <a:rPr/>
              <a:t>Abschlüsse / Purchases</a:t>
            </a:r>
          </a:p>
          <a:p>
            <a:pPr lvl="0"/>
            <a:r>
              <a:rPr/>
              <a:t>Conversion Rate pro Funnel-Schritt</a:t>
            </a:r>
          </a:p>
          <a:p>
            <a:pPr lvl="0"/>
            <a:r>
              <a:rPr/>
              <a:t>Assisted Conversions (Multi-Touch)</a:t>
            </a:r>
          </a:p>
          <a:p>
            <a:pPr lvl="0"/>
            <a:r>
              <a:rPr/>
              <a:t>Upgrade Rate (Free → Paid, App)</a:t>
            </a:r>
          </a:p>
          <a:p>
            <a:pPr lvl="0"/>
            <a:r>
              <a:rPr/>
              <a:t>In-App Purchase Rate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KPIs: Qualität &amp; Stabilität (App)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Crash Rate</a:t>
            </a:r>
          </a:p>
          <a:p>
            <a:pPr lvl="0"/>
            <a:r>
              <a:rPr/>
              <a:t>Error Events</a:t>
            </a:r>
          </a:p>
          <a:p>
            <a:pPr lvl="0"/>
            <a:r>
              <a:rPr/>
              <a:t>App Start Time</a:t>
            </a:r>
          </a:p>
          <a:p>
            <a:pPr lvl="0"/>
            <a:r>
              <a:rPr/>
              <a:t>Load Time / Latency</a:t>
            </a:r>
          </a:p>
          <a:p>
            <a:pPr lvl="0"/>
            <a:r>
              <a:rPr/>
              <a:t>Failed Transactions</a:t>
            </a:r>
          </a:p>
          <a:p>
            <a:pPr lvl="0"/>
            <a:r>
              <a:rPr/>
              <a:t>Rage Clicks / Dead Clicks (optional, Web &amp; App)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KPIs: Bindung &amp; Churn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Retention (Day 1 / Day 7 / Day 30)</a:t>
            </a:r>
          </a:p>
          <a:p>
            <a:pPr lvl="0"/>
            <a:r>
              <a:rPr/>
              <a:t>Cohort Retention</a:t>
            </a:r>
          </a:p>
          <a:p>
            <a:pPr lvl="0"/>
            <a:r>
              <a:rPr/>
              <a:t>Churn Rate</a:t>
            </a:r>
          </a:p>
          <a:p>
            <a:pPr lvl="0"/>
            <a:r>
              <a:rPr/>
              <a:t>Re-Activation Rate</a:t>
            </a:r>
          </a:p>
          <a:p>
            <a:pPr lvl="0"/>
            <a:r>
              <a:rPr/>
              <a:t>Push Notification Re-Engagement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KPI vs. Ziel: Was ist der Unterschied?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Ziel</a:t>
            </a:r>
            <a:br/>
            <a:r>
              <a:rPr/>
              <a:t>- Beschreibt </a:t>
            </a:r>
            <a:r>
              <a:rPr i="1"/>
              <a:t>was</a:t>
            </a:r>
            <a:r>
              <a:rPr/>
              <a:t> erreicht werden soll</a:t>
            </a:r>
            <a:br/>
            <a:r>
              <a:rPr/>
              <a:t>- Ergebnisorientiert</a:t>
            </a:r>
            <a:br/>
            <a:r>
              <a:rPr/>
              <a:t>- Beispiel: „Mehr Registrierungen für meinen Kurs“</a:t>
            </a:r>
          </a:p>
          <a:p>
            <a:pPr lvl="0" indent="0" marL="0">
              <a:buNone/>
            </a:pPr>
            <a:r>
              <a:rPr b="1"/>
              <a:t>KPI</a:t>
            </a:r>
            <a:br/>
            <a:r>
              <a:rPr/>
              <a:t>- Beschreibt </a:t>
            </a:r>
            <a:r>
              <a:rPr i="1"/>
              <a:t>wie gut</a:t>
            </a:r>
            <a:r>
              <a:rPr/>
              <a:t> wir auf dem Weg zum Ziel sind</a:t>
            </a:r>
            <a:br/>
            <a:r>
              <a:rPr/>
              <a:t>- Messgröße, nicht das Ziel selbst</a:t>
            </a:r>
            <a:br/>
            <a:r>
              <a:rPr/>
              <a:t>- Beispiel: „Conversion Rate der Registrierungsseite“</a:t>
            </a:r>
          </a:p>
          <a:p>
            <a:pPr lvl="0" indent="0" marL="0">
              <a:buNone/>
            </a:pPr>
            <a:r>
              <a:rPr/>
              <a:t>Ziele definieren die Richtung – KPIs messen den Fortschritt.</a:t>
            </a:r>
          </a:p>
        </p:txBody>
      </p:sp>
    </p:spTree>
  </p:cSld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Beispiele für Ziele und passende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Ziel:</a:t>
            </a:r>
            <a:r>
              <a:rPr/>
              <a:t> Mehr aktive Nutzer</a:t>
            </a:r>
            <a:br/>
            <a:r>
              <a:rPr b="1"/>
              <a:t>KPI:</a:t>
            </a:r>
            <a:r>
              <a:rPr/>
              <a:t> Daily/Weekly Active Users (DAU/WAU)</a:t>
            </a:r>
          </a:p>
          <a:p>
            <a:pPr lvl="0" indent="0" marL="0">
              <a:buNone/>
            </a:pPr>
            <a:r>
              <a:rPr b="1"/>
              <a:t>Ziel:</a:t>
            </a:r>
            <a:r>
              <a:rPr/>
              <a:t> Mehr Leads</a:t>
            </a:r>
            <a:br/>
            <a:r>
              <a:rPr b="1"/>
              <a:t>KPI:</a:t>
            </a:r>
            <a:r>
              <a:rPr/>
              <a:t> Formular-Conversion-Rate</a:t>
            </a:r>
          </a:p>
          <a:p>
            <a:pPr lvl="0" indent="0" marL="0">
              <a:buNone/>
            </a:pPr>
            <a:r>
              <a:rPr b="1"/>
              <a:t>Ziel:</a:t>
            </a:r>
            <a:r>
              <a:rPr/>
              <a:t> Bessere Content-Performance</a:t>
            </a:r>
            <a:br/>
            <a:r>
              <a:rPr b="1"/>
              <a:t>KPI:</a:t>
            </a:r>
            <a:r>
              <a:rPr/>
              <a:t> Scrolltiefe, Sichtbarkeit, Interaktionsraten</a:t>
            </a:r>
          </a:p>
          <a:p>
            <a:pPr lvl="0" indent="0" marL="0">
              <a:buNone/>
            </a:pPr>
            <a:r>
              <a:rPr b="1"/>
              <a:t>Ziel:</a:t>
            </a:r>
            <a:r>
              <a:rPr/>
              <a:t> Höhere Nutzerbindung</a:t>
            </a:r>
            <a:br/>
            <a:r>
              <a:rPr b="1"/>
              <a:t>KPI:</a:t>
            </a:r>
            <a:r>
              <a:rPr/>
              <a:t> 7-Tage-Retention, Churn Rate</a:t>
            </a:r>
          </a:p>
        </p:txBody>
      </p:sp>
    </p:spTree>
  </p:cSld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KPIs für Artikel / Blogposts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Scrolltiefe</a:t>
            </a:r>
          </a:p>
          <a:p>
            <a:pPr lvl="0"/>
            <a:r>
              <a:rPr/>
              <a:t>Element Visibility (v. a. CTA / Weiterführende Links)</a:t>
            </a:r>
          </a:p>
          <a:p>
            <a:pPr lvl="0"/>
            <a:r>
              <a:rPr/>
              <a:t>SERP-Klickrate</a:t>
            </a:r>
          </a:p>
          <a:p>
            <a:pPr lvl="0"/>
            <a:r>
              <a:rPr/>
              <a:t>Returning Visitor Rate</a:t>
            </a:r>
          </a:p>
          <a:p>
            <a:pPr lvl="0"/>
            <a:r>
              <a:rPr/>
              <a:t>Shares / Saves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KPIs für Videos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Play Rate</a:t>
            </a:r>
          </a:p>
          <a:p>
            <a:pPr lvl="0"/>
            <a:r>
              <a:rPr/>
              <a:t>Average Watch Time</a:t>
            </a:r>
          </a:p>
          <a:p>
            <a:pPr lvl="0"/>
            <a:r>
              <a:rPr/>
              <a:t>Completion Rate</a:t>
            </a:r>
          </a:p>
          <a:p>
            <a:pPr lvl="0"/>
            <a:r>
              <a:rPr/>
              <a:t>Drop-off Points</a:t>
            </a:r>
          </a:p>
          <a:p>
            <a:pPr lvl="0"/>
            <a:r>
              <a:rPr/>
              <a:t>CTA-Klick nach Videoende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KPIs für PDFs / Whitepaper / Downloads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Formularstart</a:t>
            </a:r>
          </a:p>
          <a:p>
            <a:pPr lvl="0"/>
            <a:r>
              <a:rPr/>
              <a:t>Formularabschluss</a:t>
            </a:r>
          </a:p>
          <a:p>
            <a:pPr lvl="0"/>
            <a:r>
              <a:rPr/>
              <a:t>Download Rate</a:t>
            </a:r>
          </a:p>
          <a:p>
            <a:pPr lvl="0"/>
            <a:r>
              <a:rPr/>
              <a:t>Assisted Conversions</a:t>
            </a:r>
          </a:p>
          <a:p>
            <a:pPr lvl="0"/>
            <a:r>
              <a:rPr/>
              <a:t>Sichtbarkeit der Download-Box (Element Visibility)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KPIs für interaktive Inhalte (Quiz, Tools, Rechner)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Task Success Rate</a:t>
            </a:r>
          </a:p>
          <a:p>
            <a:pPr lvl="0"/>
            <a:r>
              <a:rPr/>
              <a:t>Feature Usage</a:t>
            </a:r>
          </a:p>
          <a:p>
            <a:pPr lvl="0"/>
            <a:r>
              <a:rPr/>
              <a:t>Interaktionen (Tabs, Buttons, Module)</a:t>
            </a:r>
          </a:p>
          <a:p>
            <a:pPr lvl="0"/>
            <a:r>
              <a:rPr/>
              <a:t>Conversion nach Nutzung</a:t>
            </a:r>
          </a:p>
          <a:p>
            <a:pPr lvl="0"/>
            <a:r>
              <a:rPr/>
              <a:t>Time on Task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KPIs für App-Features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DAU/WAU</a:t>
            </a:r>
          </a:p>
          <a:p>
            <a:pPr lvl="0"/>
            <a:r>
              <a:rPr/>
              <a:t>Feature Usage Events</a:t>
            </a:r>
          </a:p>
          <a:p>
            <a:pPr lvl="0"/>
            <a:r>
              <a:rPr/>
              <a:t>Onboarding Completion</a:t>
            </a:r>
          </a:p>
          <a:p>
            <a:pPr lvl="0"/>
            <a:r>
              <a:rPr/>
              <a:t>Retention (Day 1 / 7 / 30)</a:t>
            </a:r>
          </a:p>
          <a:p>
            <a:pPr lvl="0"/>
            <a:r>
              <a:rPr/>
              <a:t>Churn Rate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KPIs für Newsletter / E-Mails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Open Rate</a:t>
            </a:r>
          </a:p>
          <a:p>
            <a:pPr lvl="0"/>
            <a:r>
              <a:rPr/>
              <a:t>Click Rate</a:t>
            </a:r>
          </a:p>
          <a:p>
            <a:pPr lvl="0"/>
            <a:r>
              <a:rPr/>
              <a:t>Unsubscribe Rate</a:t>
            </a:r>
          </a:p>
          <a:p>
            <a:pPr lvl="0"/>
            <a:r>
              <a:rPr/>
              <a:t>Conversion Rate (z. B. Download, Anmeldung)</a:t>
            </a:r>
          </a:p>
          <a:p>
            <a:pPr lvl="0"/>
            <a:r>
              <a:rPr/>
              <a:t>Deep-Link Engagement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Fallstricke bei der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„Mehr Traffic“ ist kein sinnvolles Ziel</a:t>
            </a:r>
          </a:p>
          <a:p>
            <a:pPr lvl="0"/>
            <a:r>
              <a:rPr/>
              <a:t>Verweildauer kann sowohl positive als auch negative Gründe haben</a:t>
            </a:r>
          </a:p>
          <a:p>
            <a:pPr lvl="0"/>
            <a:r>
              <a:rPr/>
              <a:t>Scrolltiefe ≠ qualitatives Lesen</a:t>
            </a:r>
          </a:p>
          <a:p>
            <a:pPr lvl="0"/>
            <a:r>
              <a:rPr/>
              <a:t>Event-Implementierung muss sauber sein (Schwellen, Debounce, Deduplikation)</a:t>
            </a:r>
          </a:p>
          <a:p>
            <a:pPr lvl="0"/>
            <a:r>
              <a:rPr/>
              <a:t>Attribution beeinflusst Ergebnisse stärker als erwartet</a:t>
            </a:r>
          </a:p>
          <a:p>
            <a:pPr lvl="0"/>
            <a:r>
              <a:rPr/>
              <a:t>Kleine Stichproben &gt;&gt; keine belastbaren Schlüsse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Machine Learning-Modell auf Basis von Scrolltiefe</a:t>
            </a:r>
          </a:p>
        </p:txBody>
      </p:sp>
      <p:pic>
        <p:nvPicPr>
          <p:cNvPr descr="images/model_vs_data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28800" y="1193800"/>
            <a:ext cx="54991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Machine Learning-Modell auf Basis von Scrolltiefe</a:t>
            </a:r>
          </a:p>
        </p:txBody>
      </p:sp>
      <p:pic>
        <p:nvPicPr>
          <p:cNvPr descr="images/page_heatmap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43300" y="1193800"/>
            <a:ext cx="20574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Übung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Für Ihre eigenen digitalen Inhalte:</a:t>
            </a:r>
            <a:br/>
            <a:r>
              <a:rPr/>
              <a:t>1. Outcome</a:t>
            </a:r>
            <a:br/>
            <a:r>
              <a:rPr/>
              <a:t>2. Conversions</a:t>
            </a:r>
            <a:br/>
            <a:r>
              <a:rPr/>
              <a:t>3. Micro-Conversions definieren</a:t>
            </a:r>
          </a:p>
        </p:txBody>
      </p:sp>
    </p:spTree>
  </p:cSld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Sitzung 7: A/B Testing</a:t>
            </a:r>
          </a:p>
        </p:txBody>
      </p:sp>
    </p:spTree>
  </p:cSld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Was ist Inferenzstatistik?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Von der Stichprobe auf die Grundgesamtheit schließen</a:t>
            </a:r>
          </a:p>
          <a:p>
            <a:pPr lvl="0"/>
            <a:r>
              <a:rPr/>
              <a:t>Berücksichtigt Zufallsfehler und Unsicherheit</a:t>
            </a:r>
          </a:p>
          <a:p>
            <a:pPr lvl="0"/>
            <a:r>
              <a:rPr/>
              <a:t>Zentral: </a:t>
            </a:r>
            <a:r>
              <a:rPr b="1"/>
              <a:t>Wahrscheinlichkeit</a:t>
            </a:r>
            <a:r>
              <a:rPr/>
              <a:t>, </a:t>
            </a:r>
            <a:r>
              <a:rPr b="1"/>
              <a:t>Stichprobenverteilung</a:t>
            </a:r>
            <a:r>
              <a:rPr/>
              <a:t>, </a:t>
            </a:r>
            <a:r>
              <a:rPr b="1"/>
              <a:t>Testen von Hypothesen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Würfeln und der Zufall: Zentraler Grenzwertsatz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Jeder Studierende würfelt 10x → 1 Mittelwert</a:t>
            </a:r>
          </a:p>
          <a:p>
            <a:pPr lvl="0"/>
            <a:r>
              <a:rPr/>
              <a:t>Wiederholung über viele → Verteilung der Mittelwerte</a:t>
            </a:r>
          </a:p>
          <a:p>
            <a:pPr lvl="0"/>
            <a:r>
              <a:rPr/>
              <a:t>Was ist der Erwartungswert?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Würfeln und der Zufall: Zentraler Grenzwertsatz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Jeder Studierende würfelt 10x → 1 Mittelwert</a:t>
            </a:r>
          </a:p>
          <a:p>
            <a:pPr lvl="0"/>
            <a:r>
              <a:rPr/>
              <a:t>Wiederholung über viele → Verteilung der Mittelwerte</a:t>
            </a:r>
          </a:p>
          <a:p>
            <a:pPr lvl="0"/>
            <a:r>
              <a:rPr/>
              <a:t>Erwartungswert (fairer Würfel): 3.5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Würfeln und der Zufall: Zentraler Grenzwertsatz</a:t>
            </a:r>
          </a:p>
        </p:txBody>
      </p:sp>
      <p:pic>
        <p:nvPicPr>
          <p:cNvPr descr="gdi_files/figure-pptx/unnamed-chunk-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Warum ist das wichtig?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Diese Verteilung erlaubt uns Aussagen über:</a:t>
            </a:r>
          </a:p>
          <a:p>
            <a:pPr lvl="1"/>
            <a:r>
              <a:rPr/>
              <a:t>Vertrauensbereiche (Konfidenzintervalle)</a:t>
            </a:r>
          </a:p>
          <a:p>
            <a:pPr lvl="1"/>
            <a:r>
              <a:rPr/>
              <a:t>Signifikanztests (z. B. t-Test)</a:t>
            </a:r>
          </a:p>
          <a:p>
            <a:pPr lvl="0"/>
            <a:r>
              <a:rPr b="1"/>
              <a:t>Beispiel</a:t>
            </a:r>
            <a:r>
              <a:rPr/>
              <a:t>: Ist ein Würfel gezinkt?</a:t>
            </a:r>
          </a:p>
          <a:p>
            <a:pPr lvl="0"/>
            <a:r>
              <a:rPr/>
              <a:t>Stichprobe: z. B. Mittelwert = 3.8</a:t>
            </a:r>
          </a:p>
          <a:p>
            <a:pPr lvl="0"/>
            <a:r>
              <a:rPr b="1"/>
              <a:t>Ist dieser Unterschied Zufall oder nicht?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Hypothesentesten: Grundlagen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Nullhypothese (H₀)</a:t>
            </a:r>
            <a:r>
              <a:rPr/>
              <a:t>: Annahme keines Effekts/Unterschieds</a:t>
            </a:r>
          </a:p>
          <a:p>
            <a:pPr lvl="0"/>
            <a:r>
              <a:rPr b="1"/>
              <a:t>Alternativhypothese (H₁)</a:t>
            </a:r>
            <a:r>
              <a:rPr/>
              <a:t>: Annahme eines Effekts/Unterschieds</a:t>
            </a:r>
          </a:p>
          <a:p>
            <a:pPr lvl="0"/>
            <a:r>
              <a:rPr b="1"/>
              <a:t>Arten von Hypothesen</a:t>
            </a:r>
            <a:r>
              <a:rPr/>
              <a:t>:</a:t>
            </a:r>
          </a:p>
          <a:p>
            <a:pPr lvl="1"/>
            <a:r>
              <a:rPr/>
              <a:t>Ungerichtete Hypothesen (zweiseitig): µ₁ ≠ µ₂</a:t>
            </a:r>
          </a:p>
          <a:p>
            <a:pPr lvl="1"/>
            <a:r>
              <a:rPr/>
              <a:t>Gerichtete Hypothesen (einseitig): µ₁ &gt; µ₂ oder µ₁ &lt; µ₂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Die Logik des Hypothesentestens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Indirekter Beweis</a:t>
            </a:r>
            <a:r>
              <a:rPr/>
              <a:t>: Wir falsifizieren H₀ statt H₁ zu beweisen</a:t>
            </a:r>
          </a:p>
          <a:p>
            <a:pPr lvl="0"/>
            <a:r>
              <a:rPr b="1"/>
              <a:t>Analogie zum Gerichtsprozess</a:t>
            </a:r>
            <a:r>
              <a:rPr/>
              <a:t>: “Unschuldig bis zum Beweis der Schuld”</a:t>
            </a:r>
          </a:p>
          <a:p>
            <a:pPr lvl="0"/>
            <a:r>
              <a:rPr b="1"/>
              <a:t>Entscheidungsbaum</a:t>
            </a:r>
            <a:r>
              <a:rPr/>
              <a:t>: Wann wird H₀ beibehalten oder verworfen?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Signifikanzniveau und p-Wert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Signifikanzniveau α</a:t>
            </a:r>
            <a:r>
              <a:rPr/>
              <a:t>: Vorab festgelegte Irrtumswahrscheinlichkeit (typisch: 0.05)</a:t>
            </a:r>
          </a:p>
          <a:p>
            <a:pPr lvl="0"/>
            <a:r>
              <a:rPr b="1"/>
              <a:t>p-Wert</a:t>
            </a:r>
            <a:r>
              <a:rPr/>
              <a:t>: Wahrscheinlichkeit, die beobachteten (oder extremeren) Daten unter H₀ zu erhalten</a:t>
            </a:r>
          </a:p>
          <a:p>
            <a:pPr lvl="0"/>
            <a:r>
              <a:rPr b="1"/>
              <a:t>Entscheidungsregel</a:t>
            </a:r>
            <a:r>
              <a:rPr/>
              <a:t>: Verwerfe H₀, wenn p &lt; α</a:t>
            </a:r>
          </a:p>
          <a:p>
            <a:pPr lvl="0"/>
            <a:r>
              <a:rPr b="1"/>
              <a:t>Kritische Werte</a:t>
            </a:r>
            <a:r>
              <a:rPr/>
              <a:t>: Alternative Darstellung der Entscheidungsregel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Von der Stichprobenverteilung zum t-Test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Die </a:t>
                </a:r>
                <a:r>
                  <a:rPr b="1"/>
                  <a:t>Stichprobenverteilung der Mittelwerte</a:t>
                </a:r>
                <a:r>
                  <a:rPr/>
                  <a:t> zeigt: Wie stark Mittelwerte </a:t>
                </a:r>
                <a:r>
                  <a:rPr b="1"/>
                  <a:t>zufällig schwanken</a:t>
                </a:r>
                <a:r>
                  <a:rPr/>
                  <a:t>, selbst wenn H₀ stimmt</a:t>
                </a:r>
              </a:p>
              <a:p>
                <a:pPr lvl="0"/>
                <a:r>
                  <a:rPr/>
                  <a:t>Diese Schwankung hat eine Streuung: den </a:t>
                </a:r>
                <a:r>
                  <a:rPr b="1"/>
                  <a:t>Standardfehler (SE)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S</m:t>
                      </m:r>
                      <m:r>
                        <m:t>E</m:t>
                      </m: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s</m:t>
                          </m:r>
                        </m:num>
                        <m:den>
                          <m:rad>
                            <m:radPr>
                              <m:degHide m:val="on"/>
                            </m:radPr>
                            <m:deg/>
                            <m:e>
                              <m:r>
                                <m:t>n</m:t>
                              </m:r>
                            </m:e>
                          </m:rad>
                        </m:den>
                      </m:f>
                    </m:oMath>
                  </m:oMathPara>
                </a14:m>
              </a:p>
              <a:p>
                <a:pPr lvl="0"/>
                <a:r>
                  <a:rPr/>
                  <a:t>Der t-Test prüft, ob der beobachtete Mittelwert </a:t>
                </a:r>
                <a:r>
                  <a:rPr b="1"/>
                  <a:t>außerhalb</a:t>
                </a:r>
                <a:r>
                  <a:rPr/>
                  <a:t> dieser erwarteten Schwankung liegt</a:t>
                </a:r>
              </a:p>
            </p:txBody>
          </p:sp>
        </mc:Choice>
      </mc:AlternateContent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Der Standardfehler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Definition</a:t>
            </a:r>
            <a:r>
              <a:rPr/>
              <a:t>: Standardabweichung der Stichprobenmittelwerte</a:t>
            </a:r>
          </a:p>
          <a:p>
            <a:pPr lvl="0"/>
            <a:r>
              <a:rPr b="1"/>
              <a:t>Praktische Bedeutung</a:t>
            </a:r>
            <a:r>
              <a:rPr/>
              <a:t>: Je größer die Stichprobe, desto präziser die Schätzung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set.seed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422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würfe &lt;- </a:t>
            </a:r>
            <a:r>
              <a:rPr>
                <a:solidFill>
                  <a:srgbClr val="4758AB"/>
                </a:solidFill>
                <a:latin typeface="Courier"/>
              </a:rPr>
              <a:t>sample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AD0000"/>
                </a:solidFill>
                <a:latin typeface="Courier"/>
              </a:rPr>
              <a:t>6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60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replace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se &lt;- 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(würfe)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sqrt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length</a:t>
            </a:r>
            <a:r>
              <a:rPr>
                <a:solidFill>
                  <a:srgbClr val="003B4F"/>
                </a:solidFill>
                <a:latin typeface="Courier"/>
              </a:rPr>
              <a:t>(würfe))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se</a:t>
            </a:r>
          </a:p>
          <a:p>
            <a:pPr lvl="0" indent="0">
              <a:buNone/>
            </a:pPr>
            <a:r>
              <a:rPr>
                <a:latin typeface="Courier"/>
              </a:rPr>
              <a:t>[1] 0.2296727</a:t>
            </a:r>
          </a:p>
          <a:p>
            <a:pPr lvl="0" indent="0">
              <a:buNone/>
            </a:pPr>
            <a:r>
              <a:rPr>
                <a:latin typeface="Courier"/>
              </a:rPr>
              <a:t>[1] 3.433333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t-Test in R (Einzelstichprobe)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[1] 3.433333</a:t>
            </a:r>
          </a:p>
          <a:p>
            <a:pPr lvl="0" indent="0">
              <a:buNone/>
            </a:pPr>
            <a:r>
              <a:rPr>
                <a:latin typeface="Courier"/>
              </a:rPr>
              <a:t>
    One Sample t-test
data:  würfe
t = -0.29027, df = 59, p-value = 0.7726
alternative hypothesis: true mean is not equal to 3.5
95 percent confidence interval:
 2.973759 3.892907
sample estimates:
mean of x 
 3.433333 </a:t>
            </a:r>
          </a:p>
        </p:txBody>
      </p:sp>
    </p:spTree>
  </p:cSld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Interpretation des t-Tests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p &lt; 0.05</a:t>
            </a:r>
            <a:r>
              <a:rPr/>
              <a:t> → Ablehnung der Nullhypothese (Würfel evtl. gezinkt)</a:t>
            </a:r>
          </a:p>
          <a:p>
            <a:pPr lvl="0"/>
            <a:r>
              <a:rPr b="1"/>
              <a:t>p ≥ 0.05</a:t>
            </a:r>
            <a:r>
              <a:rPr/>
              <a:t> → Kein ausreichender Hinweis auf Manipulation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Was ist denn nun „signifikant“?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Ein signifikantes Ergebnis heißt nicht, dass es „wichtig“ ist</a:t>
            </a:r>
          </a:p>
          <a:p>
            <a:pPr lvl="0"/>
            <a:r>
              <a:rPr/>
              <a:t>Es heißt nur: Unterschied ist </a:t>
            </a:r>
            <a:r>
              <a:rPr b="1"/>
              <a:t>nicht gut durch Zufall erklärbar</a:t>
            </a:r>
          </a:p>
          <a:p>
            <a:pPr lvl="0"/>
            <a:r>
              <a:rPr/>
              <a:t>Immer im Kontext interpretieren (Effektgröße, Relevanz)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Konfidenzintervalle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Definition</a:t>
            </a:r>
            <a:r>
              <a:rPr/>
              <a:t>: Bereich, der mit einer bestimmten Wahrscheinlichkeit den wahren Parameter enthält</a:t>
            </a:r>
          </a:p>
          <a:p>
            <a:pPr lvl="0"/>
            <a:r>
              <a:rPr b="1"/>
              <a:t>Interpretation</a:t>
            </a:r>
            <a:r>
              <a:rPr/>
              <a:t>: Was bedeutet ein 95%-Konfidenzintervall?</a:t>
            </a:r>
          </a:p>
          <a:p>
            <a:pPr lvl="0"/>
            <a:r>
              <a:rPr b="1"/>
              <a:t>Zusammenhang mit Hypothesentests</a:t>
            </a:r>
            <a:r>
              <a:rPr/>
              <a:t>: Enthält ein 95%-KI den Wert der Nullhypothese?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Experimentelles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Wichtige Konzepte</a:t>
            </a:r>
            <a:r>
              <a:rPr/>
              <a:t>: Randomisierung, Kontrolle, Randomized Control Trial (RCT)</a:t>
            </a:r>
          </a:p>
          <a:p>
            <a:pPr lvl="0"/>
            <a:r>
              <a:rPr b="1"/>
              <a:t>Experimentierfehler vermeiden</a:t>
            </a:r>
            <a:r>
              <a:rPr/>
              <a:t>:</a:t>
            </a:r>
          </a:p>
          <a:p>
            <a:pPr lvl="1"/>
            <a:r>
              <a:rPr/>
              <a:t>Placebo-Effekt</a:t>
            </a:r>
          </a:p>
          <a:p>
            <a:pPr lvl="1"/>
            <a:r>
              <a:rPr/>
              <a:t>Hawthorne-Effekt</a:t>
            </a:r>
          </a:p>
          <a:p>
            <a:pPr lvl="1"/>
            <a:r>
              <a:rPr/>
              <a:t>Observer Bias</a:t>
            </a:r>
          </a:p>
          <a:p>
            <a:pPr lvl="1"/>
            <a:r>
              <a:rPr/>
              <a:t>Selection Bias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Ursprung der t-Verteilung: William S. Gosset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William S. Gosset</a:t>
            </a:r>
            <a:r>
              <a:rPr/>
              <a:t> war Chemiker und Statistiker bei der Guinness-Brauerei (Anfang 1900er).</a:t>
            </a:r>
          </a:p>
          <a:p>
            <a:pPr lvl="0"/>
            <a:r>
              <a:rPr/>
              <a:t>Aufgabe: Qualitätskontrolle (z. B. Stärkegehalt von Gerste messen).</a:t>
            </a:r>
          </a:p>
          <a:p>
            <a:pPr lvl="0"/>
            <a:r>
              <a:rPr/>
              <a:t>Problem: Nur </a:t>
            </a:r>
            <a:r>
              <a:rPr b="1"/>
              <a:t>kleine Stichproben</a:t>
            </a:r>
            <a:r>
              <a:rPr/>
              <a:t> pro Tag (z. B. n = 4 oder 5).</a:t>
            </a:r>
          </a:p>
          <a:p>
            <a:pPr lvl="0"/>
            <a:r>
              <a:rPr/>
              <a:t>Damalige Statistik: Basierte auf </a:t>
            </a:r>
            <a:r>
              <a:rPr b="1"/>
              <a:t>großen Stichproben</a:t>
            </a:r>
            <a:r>
              <a:rPr/>
              <a:t> und der </a:t>
            </a:r>
            <a:r>
              <a:rPr b="1"/>
              <a:t>Normalverteilung</a:t>
            </a:r>
            <a:r>
              <a:rPr/>
              <a:t>.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Das statistische Problem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Ziel: Testen, ob der Mittelwert von Proben vom Sollwert abweicht.</a:t>
                </a:r>
              </a:p>
              <a:p>
                <a:pPr lvl="0"/>
                <a:r>
                  <a:rPr/>
                  <a:t>Normalformel: [  ] → funktioniert nur, wenn </a:t>
                </a:r>
                <a:r>
                  <a:rPr b="1"/>
                  <a:t>σ</a:t>
                </a:r>
                <a:r>
                  <a:rPr/>
                  <a:t> (Standardabweichung der Grundgesamtheit) bekannt ist.</a:t>
                </a:r>
              </a:p>
              <a:p>
                <a:pPr lvl="0"/>
                <a:r>
                  <a:rPr/>
                  <a:t>Bei kleinen n musste Gosset stattdessen </a:t>
                </a:r>
                <a:r>
                  <a:rPr b="1"/>
                  <a:t>s</a:t>
                </a:r>
                <a:r>
                  <a:rPr/>
                  <a:t> (Stichprobenstandardabweichung) verwenden: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type m:val="bar"/>
                        </m:fPr>
                        <m:num>
                          <m:acc>
                            <m:accPr>
                              <m:chr m:val="‾"/>
                            </m:accPr>
                            <m:e>
                              <m:r>
                                <m:t>x</m:t>
                              </m:r>
                            </m:e>
                          </m:acc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μ</m:t>
                          </m:r>
                        </m:num>
                        <m:den>
                          <m:r>
                            <m:t>s</m:t>
                          </m:r>
                          <m:r>
                            <m:rPr>
                              <m:sty m:val="p"/>
                            </m:rPr>
                            <m:t>/</m:t>
                          </m:r>
                          <m:rad>
                            <m:radPr>
                              <m:degHide m:val="on"/>
                            </m:radPr>
                            <m:deg/>
                            <m:e>
                              <m:r>
                                <m:t>n</m:t>
                              </m:r>
                            </m:e>
                          </m:rad>
                        </m:den>
                      </m:f>
                    </m:oMath>
                  </m:oMathPara>
                </a14:m>
              </a:p>
              <a:p>
                <a:pPr lvl="0"/>
                <a:r>
                  <a:rPr/>
                  <a:t>Folge: Diese Teststatistik </a:t>
                </a:r>
                <a:r>
                  <a:rPr b="1"/>
                  <a:t>folgt nicht mehr der Normalverteilung</a:t>
                </a:r>
                <a:r>
                  <a:rPr/>
                  <a:t>.</a:t>
                </a:r>
              </a:p>
            </p:txBody>
          </p:sp>
        </mc:Choice>
      </mc:AlternateContent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Die Lösung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Gosset zeigte: Die neue Verteilung hängt von der Anzahl an Beobachtungen ab → </a:t>
            </a:r>
            <a:r>
              <a:rPr b="1"/>
              <a:t>Freiheitsgrade (n−1)</a:t>
            </a:r>
            <a:r>
              <a:rPr/>
              <a:t>.</a:t>
            </a:r>
          </a:p>
          <a:p>
            <a:pPr lvl="0"/>
            <a:r>
              <a:rPr/>
              <a:t>Daraus entstand eine neue Verteilung: die </a:t>
            </a:r>
            <a:r>
              <a:rPr b="1"/>
              <a:t>t-Verteilung mit df</a:t>
            </a:r>
            <a:r>
              <a:rPr/>
              <a:t>.</a:t>
            </a:r>
          </a:p>
          <a:p>
            <a:pPr lvl="0"/>
            <a:r>
              <a:rPr/>
              <a:t>Diese berücksichtigt die </a:t>
            </a:r>
            <a:r>
              <a:rPr b="1"/>
              <a:t>größere Unsicherheit bei kleinen n</a:t>
            </a:r>
            <a:r>
              <a:rPr/>
              <a:t> durch dickere „Schwänze“ (heavy tails).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Warum „Student“?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Guinness verbot es Mitarbeitern, unter eigenem Namen zu publizieren.</a:t>
            </a:r>
          </a:p>
          <a:p>
            <a:pPr lvl="0"/>
            <a:r>
              <a:rPr/>
              <a:t>Gosset veröffentlichte 1908 unter dem Pseudonym </a:t>
            </a:r>
            <a:r>
              <a:rPr b="1"/>
              <a:t>„Student“</a:t>
            </a:r>
            <a:r>
              <a:rPr/>
              <a:t>:</a:t>
            </a:r>
          </a:p>
          <a:p>
            <a:pPr lvl="1"/>
            <a:r>
              <a:rPr i="1"/>
              <a:t>„The Probable Error of a Mean“</a:t>
            </a:r>
            <a:r>
              <a:rPr/>
              <a:t> (in </a:t>
            </a:r>
            <a:r>
              <a:rPr i="1"/>
              <a:t>Biometrika</a:t>
            </a:r>
            <a:r>
              <a:rPr/>
              <a:t>)</a:t>
            </a:r>
          </a:p>
          <a:p>
            <a:pPr lvl="0"/>
            <a:r>
              <a:rPr/>
              <a:t>Der t-Test wurde dadurch bekannt als </a:t>
            </a:r>
            <a:r>
              <a:rPr b="1"/>
              <a:t>„Student’s t-Test“</a:t>
            </a:r>
            <a:r>
              <a:rPr/>
              <a:t>.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Visualisierung unterschiedlicher t-Verteilungen</a:t>
            </a:r>
          </a:p>
        </p:txBody>
      </p:sp>
      <p:pic>
        <p:nvPicPr>
          <p:cNvPr descr="gdi_files/figure-pptx/unnamed-chunk-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Freiheitsgrade (Degrees of Freedom, df)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Anzahl der </a:t>
            </a:r>
            <a:r>
              <a:rPr b="1"/>
              <a:t>unabhängigen Informationen</a:t>
            </a:r>
            <a:r>
              <a:rPr/>
              <a:t>, die zur Schätzung einer Größe verfügbar sind.</a:t>
            </a:r>
          </a:p>
          <a:p>
            <a:pPr lvl="0"/>
            <a:r>
              <a:rPr/>
              <a:t>Bei der Berechnung der </a:t>
            </a:r>
            <a:r>
              <a:rPr b="1"/>
              <a:t>Stichprobenvarianz</a:t>
            </a:r>
            <a:r>
              <a:rPr/>
              <a:t> geht 1 Freiheitsgrad verloren: [ df = n - 1 ] (weil der Mittelwert bereits aus den Daten berechnet wurde)</a:t>
            </a:r>
          </a:p>
          <a:p>
            <a:pPr lvl="0"/>
            <a:r>
              <a:rPr/>
              <a:t>Freiheitsgrade bestimmen die </a:t>
            </a:r>
            <a:r>
              <a:rPr b="1"/>
              <a:t>Form der t-Verteilung</a:t>
            </a:r>
            <a:r>
              <a:rPr/>
              <a:t>:</a:t>
            </a:r>
          </a:p>
          <a:p>
            <a:pPr lvl="1"/>
            <a:r>
              <a:rPr/>
              <a:t>Wenige df → </a:t>
            </a:r>
            <a:r>
              <a:rPr b="1"/>
              <a:t>dickere Randbereiche</a:t>
            </a:r>
          </a:p>
          <a:p>
            <a:pPr lvl="1"/>
            <a:r>
              <a:rPr/>
              <a:t>Viele df → t-Verteilung nähert sich der </a:t>
            </a:r>
            <a:r>
              <a:rPr b="1"/>
              <a:t>Normalverteilung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Freiheitsgrade (Degrees of Freedom, df)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Freiheitsgrade sind wichtig für:</a:t>
            </a:r>
          </a:p>
          <a:p>
            <a:pPr lvl="1"/>
            <a:r>
              <a:rPr/>
              <a:t>Auswahl des richtigen </a:t>
            </a:r>
            <a:r>
              <a:rPr b="1"/>
              <a:t>kritischen t-Werts</a:t>
            </a:r>
          </a:p>
          <a:p>
            <a:pPr lvl="1"/>
            <a:r>
              <a:rPr b="1"/>
              <a:t>Vertrauensintervalle</a:t>
            </a:r>
            <a:r>
              <a:rPr/>
              <a:t> und </a:t>
            </a:r>
            <a:r>
              <a:rPr b="1"/>
              <a:t>p-Werte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Arten von t-Tests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Einstichproben-t-Test</a:t>
                </a:r>
                <a:r>
                  <a:rPr/>
                  <a:t>: Vergleich mit bekanntem oder hypothetischem Wert</a:t>
                </a:r>
              </a:p>
              <a:p>
                <a:pPr lvl="1"/>
                <a:r>
                  <a:rPr/>
                  <a:t>Anwendungsbeispiel: Entspricht der mittlere Blutzuckerwert einer Patientengruppe dem Normalwert?</a:t>
                </a:r>
              </a:p>
              <a:p>
                <a:pPr lvl="1"/>
                <a:r>
                  <a:rPr/>
                  <a:t>Formel: </a:t>
                </a:r>
                <a14:m>
                  <m:oMath xmlns:m="http://schemas.openxmlformats.org/officeDocument/2006/math">
                    <m:r>
                      <m:t>t</m:t>
                    </m:r>
                    <m:r>
                      <m:rPr>
                        <m:sty m:val="p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acc>
                          <m:accPr>
                            <m:chr m:val="‾"/>
                          </m:accPr>
                          <m:e>
                            <m:r>
                              <m:t>x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m:t>−</m:t>
                        </m:r>
                        <m:sSub>
                          <m:e>
                            <m:r>
                              <m:t>μ</m:t>
                            </m:r>
                          </m:e>
                          <m:sub>
                            <m:r>
                              <m:t>0</m:t>
                            </m:r>
                          </m:sub>
                        </m:sSub>
                      </m:num>
                      <m:den>
                        <m:r>
                          <m:t>s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n</m:t>
                            </m:r>
                          </m:e>
                        </m:rad>
                      </m:den>
                    </m:f>
                  </m:oMath>
                </a14:m>
              </a:p>
            </p:txBody>
          </p:sp>
        </mc:Choice>
      </mc:AlternateContent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Arten von t-Tests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Zweistichproben-t-Test (unabhängig)</a:t>
                </a:r>
                <a:r>
                  <a:rPr/>
                  <a:t>: Vergleich zweier unabhängiger Gruppen</a:t>
                </a:r>
              </a:p>
              <a:p>
                <a:pPr lvl="1"/>
                <a:r>
                  <a:rPr/>
                  <a:t>Anwendungsbeispiel: Unterscheiden sich die Testergebnisse zweier unterschiedlicher Lernmethoden?</a:t>
                </a:r>
              </a:p>
              <a:p>
                <a:pPr lvl="1"/>
                <a:r>
                  <a:rPr/>
                  <a:t>Formel bei gleichen Varianzen: </a:t>
                </a:r>
                <a14:m>
                  <m:oMath xmlns:m="http://schemas.openxmlformats.org/officeDocument/2006/math">
                    <m:r>
                      <m:t>t</m:t>
                    </m:r>
                    <m:r>
                      <m:rPr>
                        <m:sty m:val="p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sSub>
                          <m:e>
                            <m:acc>
                              <m:accPr>
                                <m:chr m:val="‾"/>
                              </m:accPr>
                              <m:e>
                                <m:r>
                                  <m:t>x</m:t>
                                </m:r>
                              </m:e>
                            </m:acc>
                          </m:e>
                          <m:sub>
                            <m: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m:t>−</m:t>
                        </m:r>
                        <m:sSub>
                          <m:e>
                            <m:acc>
                              <m:accPr>
                                <m:chr m:val="‾"/>
                              </m:accPr>
                              <m:e>
                                <m:r>
                                  <m:t>x</m:t>
                                </m:r>
                              </m:e>
                            </m:acc>
                          </m:e>
                          <m:sub>
                            <m:r>
                              <m:t>2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m:t>s</m:t>
                            </m:r>
                          </m:e>
                          <m:sub>
                            <m:r>
                              <m:t>p</m:t>
                            </m:r>
                          </m:sub>
                        </m:sSub>
                        <m:rad>
                          <m:radPr>
                            <m:degHide m:val="on"/>
                          </m:radPr>
                          <m:deg/>
                          <m:e>
                            <m:f>
                              <m:fPr>
                                <m:type m:val="bar"/>
                              </m:fPr>
                              <m:num>
                                <m:r>
                                  <m:t>1</m:t>
                                </m:r>
                              </m:num>
                              <m:den>
                                <m:sSub>
                                  <m:e>
                                    <m:r>
                                      <m:t>n</m:t>
                                    </m:r>
                                  </m:e>
                                  <m:sub>
                                    <m: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  <m:r>
                              <m:rPr>
                                <m:sty m:val="p"/>
                              </m:rPr>
                              <m:t>+</m:t>
                            </m:r>
                            <m:f>
                              <m:fPr>
                                <m:type m:val="bar"/>
                              </m:fPr>
                              <m:num>
                                <m:r>
                                  <m:t>1</m:t>
                                </m:r>
                              </m:num>
                              <m:den>
                                <m:sSub>
                                  <m:e>
                                    <m:r>
                                      <m:t>n</m:t>
                                    </m:r>
                                  </m:e>
                                  <m:sub>
                                    <m:r>
                                      <m:t>2</m:t>
                                    </m:r>
                                  </m:sub>
                                </m:sSub>
                              </m:den>
                            </m:f>
                          </m:e>
                        </m:rad>
                      </m:den>
                    </m:f>
                  </m:oMath>
                </a14:m>
              </a:p>
            </p:txBody>
          </p:sp>
        </mc:Choice>
      </mc:AlternateContent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Arten von t-Tests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Gepaarter t-Test (abhängig)</a:t>
                </a:r>
                <a:r>
                  <a:rPr/>
                  <a:t>: Vergleich verbundener Messungen</a:t>
                </a:r>
              </a:p>
              <a:p>
                <a:pPr lvl="1"/>
                <a:r>
                  <a:rPr/>
                  <a:t>Anwendungsbeispiel: Vor-Nach-Vergleich einer Intervention</a:t>
                </a:r>
              </a:p>
              <a:p>
                <a:pPr lvl="1"/>
                <a:r>
                  <a:rPr/>
                  <a:t>Formel: </a:t>
                </a:r>
                <a14:m>
                  <m:oMath xmlns:m="http://schemas.openxmlformats.org/officeDocument/2006/math">
                    <m:r>
                      <m:t>t</m:t>
                    </m:r>
                    <m:r>
                      <m:rPr>
                        <m:sty m:val="p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acc>
                          <m:accPr>
                            <m:chr m:val="‾"/>
                          </m:accPr>
                          <m:e>
                            <m:r>
                              <m:t>d</m:t>
                            </m:r>
                          </m:e>
                        </m:acc>
                      </m:num>
                      <m:den>
                        <m:sSub>
                          <m:e>
                            <m:r>
                              <m:t>s</m:t>
                            </m:r>
                          </m:e>
                          <m:sub>
                            <m:r>
                              <m:t>d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m:t>/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n</m:t>
                            </m:r>
                          </m:e>
                        </m:rad>
                      </m:den>
                    </m:f>
                  </m:oMath>
                </a14:m>
              </a:p>
            </p:txBody>
          </p:sp>
        </mc:Choice>
      </mc:AlternateContent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Arten von t-Tests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Welch-Test</a:t>
            </a:r>
            <a:r>
              <a:rPr/>
              <a:t>: Variante für ungleiche Varianzen</a:t>
            </a:r>
          </a:p>
          <a:p>
            <a:pPr lvl="1"/>
            <a:r>
              <a:rPr/>
              <a:t>Anwendungsbeispiel: Wenn die Streuung in beiden Gruppen deutlich unterschiedlich ist</a:t>
            </a:r>
          </a:p>
          <a:p>
            <a:pPr lvl="1"/>
            <a:r>
              <a:rPr/>
              <a:t>Angepasste Freiheitsgrade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Fehler beim Hypothesentesten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Fehler 1. Art (α-Fehler)</a:t>
            </a:r>
            <a:r>
              <a:rPr/>
              <a:t>: Falsch-positive Entscheidung (H₀ fälschlicherweise verwerfen)</a:t>
            </a:r>
          </a:p>
          <a:p>
            <a:pPr lvl="0"/>
            <a:r>
              <a:rPr b="1"/>
              <a:t>Fehler 2. Art (β-Fehler)</a:t>
            </a:r>
            <a:r>
              <a:rPr/>
              <a:t>: Falsch-negative Entscheidung (H₀ fälschlicherweise beibehalten)</a:t>
            </a:r>
          </a:p>
          <a:p>
            <a:pPr lvl="0"/>
            <a:r>
              <a:rPr b="1"/>
              <a:t>Power (1-β)</a:t>
            </a:r>
            <a:r>
              <a:rPr/>
              <a:t>: Wahrscheinlichkeit, einen tatsächlich vorhandenen Effekt zu entdecken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Balanceakt: Abwägung zwischen α und β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Sitzung 8: Data Mining</a:t>
            </a:r>
          </a:p>
        </p:txBody>
      </p:sp>
    </p:spTree>
  </p:cSld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Was ist Data Mining?</a:t>
            </a:r>
          </a:p>
        </p:txBody>
      </p:sp>
    </p:spTree>
  </p:cSld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Warum Data Mining?</a:t>
            </a:r>
          </a:p>
        </p:txBody>
      </p:sp>
    </p:spTree>
  </p:cSld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Assoziationsanalyse</a:t>
            </a:r>
          </a:p>
        </p:txBody>
      </p:sp>
    </p:spTree>
  </p:cSld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Naive Bayes</a:t>
            </a:r>
          </a:p>
        </p:txBody>
      </p:sp>
    </p:spTree>
  </p:cSld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Sitzung 9: Datenvisualisierung</a:t>
            </a:r>
          </a:p>
        </p:txBody>
      </p:sp>
    </p:spTree>
  </p:cSld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Sitzung 4: Datenvisualisierung</a:t>
            </a:r>
          </a:p>
        </p:txBody>
      </p:sp>
    </p:spTree>
  </p:cSld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Warum Datenvisualisierung?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greatest value of a picture is when it forces us to notice what we never expected to see. (John Tukey)</a:t>
            </a:r>
          </a:p>
        </p:txBody>
      </p:sp>
    </p:spTree>
  </p:cSld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Warum Datenvisualisierung, Teil 2</a:t>
            </a:r>
          </a:p>
        </p:txBody>
      </p:sp>
      <p:pic>
        <p:nvPicPr>
          <p:cNvPr descr="images/Anscombe's_quartet_3.sv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47900" y="1193800"/>
            <a:ext cx="466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 wichtige Schritte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Was ist der Kontext?</a:t>
            </a:r>
          </a:p>
          <a:p>
            <a:pPr lvl="1"/>
            <a:r>
              <a:rPr/>
              <a:t>An wen wird kommuniziert?</a:t>
            </a:r>
          </a:p>
          <a:p>
            <a:pPr lvl="1"/>
            <a:r>
              <a:rPr/>
              <a:t>Was soll der Empfänger wissen oder tun?</a:t>
            </a:r>
          </a:p>
          <a:p>
            <a:pPr lvl="1"/>
            <a:r>
              <a:rPr/>
              <a:t>Welche Daten sind vorhanden, um den Case zu untermauern?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 wichtige Schritte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startAt="2" type="arabicPeriod"/>
            </a:pPr>
            <a:r>
              <a:rPr/>
              <a:t>Welche ist das passendste Visualierung?</a:t>
            </a:r>
          </a:p>
          <a:p>
            <a:pPr lvl="1"/>
            <a:r>
              <a:rPr/>
              <a:t>Ein oder zwei Zahlen, die im Fokus stehen? =&gt; Text!</a:t>
            </a:r>
          </a:p>
          <a:p>
            <a:pPr lvl="1"/>
            <a:r>
              <a:rPr/>
              <a:t>Liniendiagramme für continuous data</a:t>
            </a:r>
          </a:p>
          <a:p>
            <a:pPr lvl="1"/>
            <a:r>
              <a:rPr/>
              <a:t>Säulendiagramme für kategoriale Daten, müssen bei 0 anfangen</a:t>
            </a:r>
          </a:p>
          <a:p>
            <a:pPr lvl="1"/>
            <a:r>
              <a:rPr/>
              <a:t>Die Beziehungen der Daten untereinander bestimmen die Visualisierung, sofern Sie mehr als eine Variable haben</a:t>
            </a:r>
          </a:p>
          <a:p>
            <a:pPr lvl="1"/>
            <a:r>
              <a:rPr/>
              <a:t>Vermeiden Sie Tortendiagramme, Donuts, 3D, zweite Y-Achsen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 wichtige Schritte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startAt="3" type="arabicPeriod"/>
            </a:pPr>
            <a:r>
              <a:rPr/>
              <a:t>Entfernen Sie „Clutter”</a:t>
            </a:r>
          </a:p>
          <a:p>
            <a:pPr lvl="1" indent="-342900" marL="685800">
              <a:buAutoNum type="arabicPeriod"/>
            </a:pPr>
            <a:r>
              <a:rPr/>
              <a:t>Entfernen Sie alles, das keinen informativen Mehrwert hat (z.B. Farben für die Ästhetik)</a:t>
            </a:r>
          </a:p>
          <a:p>
            <a:pPr lvl="1" indent="-342900" marL="685800">
              <a:buAutoNum type="arabicPeriod"/>
            </a:pPr>
            <a:r>
              <a:rPr/>
              <a:t>Arbeiten Sie mit freiem Raum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 wichtige Schritte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startAt="4" type="arabicPeriod"/>
            </a:pPr>
            <a:r>
              <a:rPr/>
              <a:t>Fokussieren Sie die Aufmerksamkeit, wo Sie hin soll</a:t>
            </a:r>
          </a:p>
          <a:p>
            <a:pPr lvl="1"/>
            <a:r>
              <a:rPr/>
              <a:t>Größe, Position und, ja, manchmal auch Farbe nutzen um zu signalisieren, was wichtig ist</a:t>
            </a:r>
          </a:p>
          <a:p>
            <a:pPr lvl="1"/>
            <a:r>
              <a:rPr/>
              <a:t>Wohin gehen die Augen?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 wichtige Schritte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-342900" marL="342900">
              <a:buAutoNum startAt="5" type="arabicPeriod"/>
            </a:pPr>
            <a:r>
              <a:rPr/>
              <a:t>Nutzen Sie Storytelling</a:t>
            </a:r>
          </a:p>
          <a:p>
            <a:pPr lvl="1"/>
            <a:r>
              <a:rPr/>
              <a:t>Niemand will einfach nur Auflistungen von Zahlen und Diagrammen sehen.</a:t>
            </a:r>
          </a:p>
          <a:p>
            <a:pPr lvl="1"/>
            <a:r>
              <a:rPr/>
              <a:t>Schreiben Sie einen Plot. Anfang, eventuell sogar einen Twist, und ein Ende mit Call to Action (in der Wissenschaft reicht eine Diskussion ☺)</a:t>
            </a:r>
          </a:p>
          <a:p>
            <a:pPr lvl="1"/>
            <a:r>
              <a:rPr/>
              <a:t>Bitte arbeiten Sie nicht einfach nur mechanisch alles ab, was Sie können.</a:t>
            </a:r>
          </a:p>
        </p:txBody>
      </p:sp>
      <p:pic>
        <p:nvPicPr>
          <p:cNvPr descr="images/storytellin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880100" y="1193800"/>
            <a:ext cx="15621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Redundant Coding</a:t>
            </a:r>
          </a:p>
        </p:txBody>
      </p:sp>
      <p:pic>
        <p:nvPicPr>
          <p:cNvPr descr="gdi_files/figure-pptx/unnamed-chunk-6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874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gdi_files/figure-pptx/unnamed-chunk-7-1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9784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Weißer Space ist gut… aber nicht zu viel!</a:t>
            </a:r>
          </a:p>
        </p:txBody>
      </p:sp>
      <p:pic>
        <p:nvPicPr>
          <p:cNvPr descr="gdi_files/figure-pptx/unnamed-chunk-8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879600"/>
            <a:ext cx="4038600" cy="2019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gdi_files/figure-pptx/unnamed-chunk-9-1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648200" y="1879600"/>
            <a:ext cx="4038600" cy="2019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Highlighting</a:t>
            </a:r>
          </a:p>
        </p:txBody>
      </p:sp>
      <p:pic>
        <p:nvPicPr>
          <p:cNvPr descr="gdi_files/figure-pptx/unnamed-chunk-10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Wie identifiziert man das richtige Diagramm?</a:t>
            </a:r>
          </a:p>
        </p:txBody>
      </p:sp>
      <p:pic>
        <p:nvPicPr>
          <p:cNvPr descr="images/overview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68500" y="1193800"/>
            <a:ext cx="5219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Scatter Plot / Streudiagramm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Zeigt Beziehung zwischen zwei kontinuierlichen Variablen</a:t>
            </a:r>
          </a:p>
          <a:p>
            <a:pPr lvl="0"/>
            <a:r>
              <a:rPr/>
              <a:t>Jeder Punkt = eine Beobachtung</a:t>
            </a:r>
          </a:p>
          <a:p>
            <a:pPr lvl="0"/>
            <a:r>
              <a:rPr/>
              <a:t>Erkennt Muster, Cluster, Ausreißer und Korrelationen</a:t>
            </a:r>
          </a:p>
          <a:p>
            <a:pPr lvl="0"/>
            <a:r>
              <a:rPr/>
              <a:t>Benötigt numerische X/Y-Achsen</a:t>
            </a:r>
          </a:p>
          <a:p>
            <a:pPr lvl="0"/>
            <a:r>
              <a:rPr/>
              <a:t>Dritte Dimension durch Punktgröße/Farbe möglich</a:t>
            </a:r>
          </a:p>
        </p:txBody>
      </p:sp>
      <p:pic>
        <p:nvPicPr>
          <p:cNvPr descr="gdi_files/figure-pptx/unnamed-chunk-1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784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Korrelationsmatrix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Zeigt Korrelationsstärke zwischen Variablen</a:t>
            </a:r>
          </a:p>
          <a:p>
            <a:pPr lvl="0"/>
            <a:r>
              <a:rPr/>
              <a:t>Farbe/Größe visualisiert Richtung und Stärke</a:t>
            </a:r>
          </a:p>
          <a:p>
            <a:pPr lvl="0"/>
            <a:r>
              <a:rPr/>
              <a:t>Unterscheidet klar positive/negative Korrelationen</a:t>
            </a:r>
          </a:p>
          <a:p>
            <a:pPr lvl="0"/>
            <a:r>
              <a:rPr/>
              <a:t>Identifiziert Muster und redundante Variablen</a:t>
            </a:r>
          </a:p>
          <a:p>
            <a:pPr lvl="0"/>
            <a:r>
              <a:rPr/>
              <a:t>Essentiell für explorative Datenanalyse</a:t>
            </a:r>
          </a:p>
        </p:txBody>
      </p:sp>
      <p:pic>
        <p:nvPicPr>
          <p:cNvPr descr="gdi_files/figure-pptx/unnamed-chunk-12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784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Venn-Diagramm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Zeigt gemeinsame und einzigartige Elemente</a:t>
            </a:r>
          </a:p>
          <a:p>
            <a:pPr lvl="0"/>
            <a:r>
              <a:rPr/>
              <a:t>Überschneidungen visualisieren Gemeinsamkeiten</a:t>
            </a:r>
          </a:p>
          <a:p>
            <a:pPr lvl="0"/>
            <a:r>
              <a:rPr/>
              <a:t>Ideal für Vergleich von Kategorien/Merkmalen</a:t>
            </a:r>
          </a:p>
          <a:p>
            <a:pPr lvl="0"/>
            <a:r>
              <a:rPr/>
              <a:t>Funktioniert am besten mit 2-3 Gruppen</a:t>
            </a:r>
          </a:p>
          <a:p>
            <a:pPr lvl="0"/>
            <a:r>
              <a:rPr/>
              <a:t>Wird mit mehr als 5 Gruppen unübersichtlich</a:t>
            </a:r>
          </a:p>
        </p:txBody>
      </p:sp>
      <p:pic>
        <p:nvPicPr>
          <p:cNvPr descr="images/relationship_venn_4_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48200" y="1371600"/>
            <a:ext cx="4038600" cy="3022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UpSet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Alternative für komplexe Überschneidungen</a:t>
            </a:r>
          </a:p>
          <a:p>
            <a:pPr lvl="0"/>
            <a:r>
              <a:rPr/>
              <a:t>Skalierbarer als klassische Venn-Diagramme</a:t>
            </a:r>
          </a:p>
          <a:p>
            <a:pPr lvl="0"/>
            <a:r>
              <a:rPr/>
              <a:t>Balken visualisieren Überschneidungsgrößen</a:t>
            </a:r>
          </a:p>
          <a:p>
            <a:pPr lvl="0"/>
            <a:r>
              <a:rPr/>
              <a:t>Punkte zeigen beteiligte Mengen</a:t>
            </a:r>
          </a:p>
          <a:p>
            <a:pPr lvl="0"/>
            <a:r>
              <a:rPr/>
              <a:t>Ideal für 4+ Gruppen/komplexe Beziehungen</a:t>
            </a:r>
          </a:p>
        </p:txBody>
      </p:sp>
      <p:pic>
        <p:nvPicPr>
          <p:cNvPr descr="images/upse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48200" y="1638300"/>
            <a:ext cx="4038600" cy="2489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Sankey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Visualisiert Flüsse zwischen Kategorien</a:t>
            </a:r>
          </a:p>
          <a:p>
            <a:pPr lvl="0"/>
            <a:r>
              <a:rPr/>
              <a:t>Pfeilbreite zeigt Volumen/Wert</a:t>
            </a:r>
          </a:p>
          <a:p>
            <a:pPr lvl="0"/>
            <a:r>
              <a:rPr/>
              <a:t>Ideal für Verteilungen und Prozesse</a:t>
            </a:r>
          </a:p>
          <a:p>
            <a:pPr lvl="0"/>
            <a:r>
              <a:rPr/>
              <a:t>Zeigt Herkunft und Ziel von Ressourcen</a:t>
            </a:r>
          </a:p>
          <a:p>
            <a:pPr lvl="0"/>
            <a:r>
              <a:rPr/>
              <a:t>Verdeutlicht Proportionen über mehrere Stufen</a:t>
            </a:r>
          </a:p>
        </p:txBody>
      </p:sp>
      <p:pic>
        <p:nvPicPr>
          <p:cNvPr descr="gdi_files/figure-pptx/unnamed-chunk-13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784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Horizontal Bar Chart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Vergleicht Werte über Kategorien hinweg</a:t>
            </a:r>
          </a:p>
          <a:p>
            <a:pPr lvl="0"/>
            <a:r>
              <a:rPr/>
              <a:t>Horizontale Anordnung für bessere Lesbarkeit</a:t>
            </a:r>
          </a:p>
          <a:p>
            <a:pPr lvl="0"/>
            <a:r>
              <a:rPr/>
              <a:t>Ideal für lange Namen oder viele Kategorien</a:t>
            </a:r>
          </a:p>
          <a:p>
            <a:pPr lvl="0"/>
            <a:r>
              <a:rPr/>
              <a:t>Perfekt für Rankings und Wertvergleiche</a:t>
            </a:r>
          </a:p>
          <a:p>
            <a:pPr lvl="0"/>
            <a:r>
              <a:rPr/>
              <a:t>Einfach und übersichtlich</a:t>
            </a:r>
          </a:p>
        </p:txBody>
      </p:sp>
      <p:pic>
        <p:nvPicPr>
          <p:cNvPr descr="gdi_files/figure-pptx/unnamed-chunk-14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784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Column Chart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Vergleicht Werte mit vertikalen Balken</a:t>
            </a:r>
          </a:p>
          <a:p>
            <a:pPr lvl="0"/>
            <a:r>
              <a:rPr/>
              <a:t>Ideal für Ranking und Leistungsvergleiche</a:t>
            </a:r>
          </a:p>
          <a:p>
            <a:pPr lvl="0"/>
            <a:r>
              <a:rPr/>
              <a:t>Funktioniert gut mit wenigen, klaren Kategorien</a:t>
            </a:r>
          </a:p>
          <a:p>
            <a:pPr lvl="0"/>
            <a:r>
              <a:rPr/>
              <a:t>Kurze, lesbare Beschriftungen bevorzugen</a:t>
            </a:r>
          </a:p>
          <a:p>
            <a:pPr lvl="0"/>
            <a:r>
              <a:rPr/>
              <a:t>Konsistente Nullbasislinie für faire Vergleiche</a:t>
            </a:r>
          </a:p>
        </p:txBody>
      </p:sp>
      <p:pic>
        <p:nvPicPr>
          <p:cNvPr descr="gdi_files/figure-pptx/unnamed-chunk-1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784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Vergleich: Horizontal vs. Vertical Bar Charts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Horizontal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Vertical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Best for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Long category labels, many items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Time-based or logical progression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Readability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Easier when labels are long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Requires rotation for long labels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 case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Rankings, survey responses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Trends over time, grouped comparisons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Scan direction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Left to right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Bottom to top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Visual space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Efficient for many categories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Better for fewer, high-impact bars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Circular Bar 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Kreisförmige Darstellung von Werten mit Kategorien</a:t>
            </a:r>
          </a:p>
          <a:p>
            <a:pPr lvl="0"/>
            <a:r>
              <a:rPr/>
              <a:t>Farbcodierung zeigt Gruppenzugehörigkeit</a:t>
            </a:r>
          </a:p>
          <a:p>
            <a:pPr lvl="0"/>
            <a:r>
              <a:rPr/>
              <a:t>Kompakte Darstellung von Mustern und Beziehungen</a:t>
            </a:r>
          </a:p>
          <a:p>
            <a:pPr lvl="0"/>
            <a:r>
              <a:rPr/>
              <a:t>Ideal für visuelles Storytelling</a:t>
            </a:r>
          </a:p>
          <a:p>
            <a:pPr lvl="0"/>
            <a:r>
              <a:rPr/>
              <a:t>Beschriftungen sparsam und deutlich halten</a:t>
            </a:r>
          </a:p>
        </p:txBody>
      </p:sp>
      <p:pic>
        <p:nvPicPr>
          <p:cNvPr descr="gdi_files/figure-pptx/unnamed-chunk-16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784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Diverging Bars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Zeigt Abweichungen in zwei Richtungen</a:t>
            </a:r>
          </a:p>
          <a:p>
            <a:pPr lvl="0"/>
            <a:r>
              <a:rPr/>
              <a:t>Links/rechts von zentraler Basislinie</a:t>
            </a:r>
          </a:p>
          <a:p>
            <a:pPr lvl="0"/>
            <a:r>
              <a:rPr/>
              <a:t>Ideal für Kontraste (positiv/negativ)</a:t>
            </a:r>
          </a:p>
          <a:p>
            <a:pPr lvl="0"/>
            <a:r>
              <a:rPr/>
              <a:t>Zeigt Gleichgewicht vs. Ungleichgewicht</a:t>
            </a:r>
          </a:p>
          <a:p>
            <a:pPr lvl="0"/>
            <a:r>
              <a:rPr/>
              <a:t>Gut für normalisierte Werte oder Z-Scores</a:t>
            </a:r>
          </a:p>
        </p:txBody>
      </p:sp>
      <p:pic>
        <p:nvPicPr>
          <p:cNvPr descr="gdi_files/figure-pptx/unnamed-chunk-17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784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Diverging Lollipop Chart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Elegantere Alternative zu Diverging Bars</a:t>
            </a:r>
          </a:p>
          <a:p>
            <a:pPr lvl="0"/>
            <a:r>
              <a:rPr/>
              <a:t>Nutzt Punkte statt Balken (weniger Tinte)</a:t>
            </a:r>
          </a:p>
          <a:p>
            <a:pPr lvl="0"/>
            <a:r>
              <a:rPr/>
              <a:t>Zeigt Richtung und Magnitude effektiv</a:t>
            </a:r>
          </a:p>
          <a:p>
            <a:pPr lvl="0"/>
            <a:r>
              <a:rPr/>
              <a:t>Ideal wenn genaue Werte sekundär sind</a:t>
            </a:r>
          </a:p>
          <a:p>
            <a:pPr lvl="0"/>
            <a:r>
              <a:rPr/>
              <a:t>Besonders gut für Präsentationen</a:t>
            </a:r>
          </a:p>
        </p:txBody>
      </p:sp>
      <p:pic>
        <p:nvPicPr>
          <p:cNvPr descr="gdi_files/figure-pptx/unnamed-chunk-18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784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Histogram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Zeigt Verteilung numerischer Daten in Bins</a:t>
            </a:r>
          </a:p>
          <a:p>
            <a:pPr lvl="0"/>
            <a:r>
              <a:rPr/>
              <a:t>Balken zeigen Häufigkeiten in Wertebereichen</a:t>
            </a:r>
          </a:p>
          <a:p>
            <a:pPr lvl="0"/>
            <a:r>
              <a:rPr/>
              <a:t>Erkennt Schiefe, Streuung und Ausreißer</a:t>
            </a:r>
          </a:p>
          <a:p>
            <a:pPr lvl="0"/>
            <a:r>
              <a:rPr/>
              <a:t>Zeigt Modi und Clustering in Daten</a:t>
            </a:r>
          </a:p>
          <a:p>
            <a:pPr lvl="0"/>
            <a:r>
              <a:rPr/>
              <a:t>Berührende Balken betonen Kontinuität</a:t>
            </a:r>
          </a:p>
        </p:txBody>
      </p:sp>
      <p:pic>
        <p:nvPicPr>
          <p:cNvPr descr="gdi_files/figure-pptx/unnamed-chunk-19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784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Boxplots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Zeigt Minimum, Quartile und Median</a:t>
            </a:r>
          </a:p>
          <a:p>
            <a:pPr lvl="0"/>
            <a:r>
              <a:rPr/>
              <a:t>Kompakte Darstellung von Verteilungen</a:t>
            </a:r>
          </a:p>
          <a:p>
            <a:pPr lvl="0"/>
            <a:r>
              <a:rPr/>
              <a:t>Hebt Streuung und Ausreißer hervor</a:t>
            </a:r>
          </a:p>
          <a:p>
            <a:pPr lvl="0"/>
            <a:r>
              <a:rPr/>
              <a:t>Ideal zum Kategorienvergleich</a:t>
            </a:r>
          </a:p>
          <a:p>
            <a:pPr lvl="0"/>
            <a:r>
              <a:rPr/>
              <a:t>Kann für Laien schwer verständlich sein</a:t>
            </a:r>
          </a:p>
        </p:txBody>
      </p:sp>
      <p:pic>
        <p:nvPicPr>
          <p:cNvPr descr="gdi_files/figure-pptx/unnamed-chunk-20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784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Boxplot mit unseren Verspätungsdaten</a:t>
            </a:r>
          </a:p>
        </p:txBody>
      </p:sp>
      <p:pic>
        <p:nvPicPr>
          <p:cNvPr descr="gdi_files/figure-pptx/unnamed-chunk-2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Boxplots mit Violin 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Kombiniert Boxplot mit Dichteverteilung</a:t>
            </a:r>
          </a:p>
          <a:p>
            <a:pPr lvl="0"/>
            <a:r>
              <a:rPr/>
              <a:t>Zeigt Form, Streuung und zentrale Tendenz</a:t>
            </a:r>
          </a:p>
          <a:p>
            <a:pPr lvl="0"/>
            <a:r>
              <a:rPr/>
              <a:t>Ideal für Gruppenvergleiche</a:t>
            </a:r>
          </a:p>
          <a:p>
            <a:pPr lvl="0"/>
            <a:r>
              <a:rPr/>
              <a:t>Verdeutlicht Schiefe und Multimodalität</a:t>
            </a:r>
          </a:p>
          <a:p>
            <a:pPr lvl="0"/>
            <a:r>
              <a:rPr/>
              <a:t>Informationsreichere Alternative zum Boxplot</a:t>
            </a:r>
          </a:p>
        </p:txBody>
      </p:sp>
      <p:pic>
        <p:nvPicPr>
          <p:cNvPr descr="gdi_files/figure-pptx/unnamed-chunk-22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784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Choropleth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Färbt Regionen basierend auf Datenwerten</a:t>
            </a:r>
          </a:p>
          <a:p>
            <a:pPr lvl="0"/>
            <a:r>
              <a:rPr/>
              <a:t>Zeigt räumliche Muster und Unterschiede</a:t>
            </a:r>
          </a:p>
          <a:p>
            <a:pPr lvl="0"/>
            <a:r>
              <a:rPr/>
              <a:t>Gut für Verhältnisse und Prozentsätze</a:t>
            </a:r>
          </a:p>
          <a:p>
            <a:pPr lvl="0"/>
            <a:r>
              <a:rPr/>
              <a:t>Nutze normalisierte Daten (pro Kopf, %)</a:t>
            </a:r>
          </a:p>
          <a:p>
            <a:pPr lvl="0"/>
            <a:r>
              <a:rPr/>
              <a:t>Vorsicht bei großen Flächenunterschieden</a:t>
            </a:r>
          </a:p>
        </p:txBody>
      </p:sp>
      <p:pic>
        <p:nvPicPr>
          <p:cNvPr descr="images/map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181600" y="1193800"/>
            <a:ext cx="2984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Stacked Area Chart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Zeigt Kategorienbeiträge im Zeitverlauf</a:t>
            </a:r>
          </a:p>
          <a:p>
            <a:pPr lvl="0"/>
            <a:r>
              <a:rPr/>
              <a:t>Gestapelte Schichten zeigen Gesamtsumme</a:t>
            </a:r>
          </a:p>
          <a:p>
            <a:pPr lvl="0"/>
            <a:r>
              <a:rPr/>
              <a:t>Gut für Wachstum und Anteile</a:t>
            </a:r>
          </a:p>
          <a:p>
            <a:pPr lvl="0"/>
            <a:r>
              <a:rPr/>
              <a:t>Funktioniert am besten mit wenigen Kategorien</a:t>
            </a:r>
          </a:p>
          <a:p>
            <a:pPr lvl="0"/>
            <a:r>
              <a:rPr/>
              <a:t>Einzelsegmentvergleich schwierig</a:t>
            </a:r>
          </a:p>
        </p:txBody>
      </p:sp>
      <p:pic>
        <p:nvPicPr>
          <p:cNvPr descr="gdi_files/figure-pptx/unnamed-chunk-23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784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Stacked 100% Area Chart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Zeigt relative Anteile, nicht absolute Werte</a:t>
            </a:r>
          </a:p>
          <a:p>
            <a:pPr lvl="0"/>
            <a:r>
              <a:rPr/>
              <a:t>Verfolgt Änderungen von Kategorienanteilen</a:t>
            </a:r>
          </a:p>
          <a:p>
            <a:pPr lvl="0"/>
            <a:r>
              <a:rPr/>
              <a:t>Summe immer 100% für leichte Vergleichbarkeit</a:t>
            </a:r>
          </a:p>
          <a:p>
            <a:pPr lvl="0"/>
            <a:r>
              <a:rPr/>
              <a:t>Fokus auf Zusammensetzung, nicht Wachstum</a:t>
            </a:r>
          </a:p>
          <a:p>
            <a:pPr lvl="0"/>
            <a:r>
              <a:rPr/>
              <a:t>Absolute Trends gehen verloren</a:t>
            </a:r>
          </a:p>
        </p:txBody>
      </p:sp>
      <p:pic>
        <p:nvPicPr>
          <p:cNvPr descr="gdi_files/figure-pptx/unnamed-chunk-24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784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Stacked 100% Area Chart Beispiel</a:t>
            </a:r>
          </a:p>
        </p:txBody>
      </p:sp>
      <p:pic>
        <p:nvPicPr>
          <p:cNvPr descr="images/earth_overshoot_da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36700" y="1193800"/>
            <a:ext cx="6057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Waterfall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Zeigt Beiträge zu einer Gesamtsumme</a:t>
            </a:r>
          </a:p>
          <a:p>
            <a:pPr lvl="0"/>
            <a:r>
              <a:rPr/>
              <a:t>Visualisiert Zu- und Abnahmen über Kategorien</a:t>
            </a:r>
          </a:p>
          <a:p>
            <a:pPr lvl="0"/>
            <a:r>
              <a:rPr/>
              <a:t>Hebt schrittweise Veränderungen hervor</a:t>
            </a:r>
          </a:p>
          <a:p>
            <a:pPr lvl="0"/>
            <a:r>
              <a:rPr/>
              <a:t>Ideal für Gewinn- oder Budgetanalysen</a:t>
            </a:r>
          </a:p>
          <a:p>
            <a:pPr lvl="0"/>
            <a:r>
              <a:rPr/>
              <a:t>Zeigt Faktoren für das Endergebnis</a:t>
            </a:r>
          </a:p>
        </p:txBody>
      </p:sp>
      <p:pic>
        <p:nvPicPr>
          <p:cNvPr descr="gdi_files/figure-pptx/unnamed-chunk-2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784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Heatmap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Nutzt Farbintensität für Matrixwerte</a:t>
            </a:r>
          </a:p>
          <a:p>
            <a:pPr lvl="0"/>
            <a:r>
              <a:rPr/>
              <a:t>Zeigt Muster, Cluster und Anomalien</a:t>
            </a:r>
          </a:p>
          <a:p>
            <a:pPr lvl="0"/>
            <a:r>
              <a:rPr/>
              <a:t>Gut für Korrelationen und Zeitreihen</a:t>
            </a:r>
          </a:p>
          <a:p>
            <a:pPr lvl="0"/>
            <a:r>
              <a:rPr/>
              <a:t>Einfach zu überblicken, weniger präzise</a:t>
            </a:r>
          </a:p>
          <a:p>
            <a:pPr lvl="0"/>
            <a:r>
              <a:rPr/>
              <a:t>Farbskala entscheidend für Interpretation</a:t>
            </a:r>
          </a:p>
        </p:txBody>
      </p:sp>
      <p:pic>
        <p:nvPicPr>
          <p:cNvPr descr="gdi_files/figure-pptx/unnamed-chunk-26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784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Square Area Chart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Zeigt Anteile mit gleichgroßen Quadraten</a:t>
            </a:r>
          </a:p>
          <a:p>
            <a:pPr lvl="0"/>
            <a:r>
              <a:rPr/>
              <a:t>Typisch: 1 Quadrat = 1% (10×10-Raster)</a:t>
            </a:r>
          </a:p>
          <a:p>
            <a:pPr lvl="0"/>
            <a:r>
              <a:rPr/>
              <a:t>Ideal für einfache Proportionsdarstellung</a:t>
            </a:r>
          </a:p>
          <a:p>
            <a:pPr lvl="0"/>
            <a:r>
              <a:rPr/>
              <a:t>Leicht lesbar und ansprechend</a:t>
            </a:r>
          </a:p>
          <a:p>
            <a:pPr lvl="0"/>
            <a:r>
              <a:rPr/>
              <a:t>Am besten mit wenigen Kategorien</a:t>
            </a:r>
          </a:p>
        </p:txBody>
      </p:sp>
      <p:pic>
        <p:nvPicPr>
          <p:cNvPr descr="gdi_files/figure-pptx/unnamed-chunk-27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784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Treemap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Zeigt Teil-Ganzes-Beziehungen mit Rechtecken</a:t>
            </a:r>
          </a:p>
          <a:p>
            <a:pPr lvl="0"/>
            <a:r>
              <a:rPr/>
              <a:t>Größe entspricht dem Wert (Umsatz, Anzahl)</a:t>
            </a:r>
          </a:p>
          <a:p>
            <a:pPr lvl="0"/>
            <a:r>
              <a:rPr/>
              <a:t>Visualisiert Hierarchien und Gruppierungen</a:t>
            </a:r>
          </a:p>
          <a:p>
            <a:pPr lvl="0"/>
            <a:r>
              <a:rPr/>
              <a:t>Gut für Proportionsvergleiche</a:t>
            </a:r>
          </a:p>
          <a:p>
            <a:pPr lvl="0"/>
            <a:r>
              <a:rPr/>
              <a:t>Vorsicht bei zu vielen kleinen Elementen</a:t>
            </a:r>
          </a:p>
        </p:txBody>
      </p:sp>
      <p:pic>
        <p:nvPicPr>
          <p:cNvPr descr="gdi_files/figure-pptx/unnamed-chunk-28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784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Treemap</a:t>
            </a:r>
          </a:p>
        </p:txBody>
      </p:sp>
      <p:pic>
        <p:nvPicPr>
          <p:cNvPr descr="images/treemap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27200" y="1193800"/>
            <a:ext cx="5676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Nein, Sie verwenden bitte keine Pie Charts!</a:t>
            </a:r>
          </a:p>
        </p:txBody>
      </p:sp>
      <p:pic>
        <p:nvPicPr>
          <p:cNvPr descr="images/pie-char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62200" y="1193800"/>
            <a:ext cx="441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Sitzung 10:</a:t>
            </a:r>
          </a:p>
        </p:txBody>
      </p:sp>
    </p:spTree>
  </p:cSld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Sitzung 11:</a:t>
            </a:r>
          </a:p>
        </p:txBody>
      </p:sp>
    </p:spTree>
  </p:cSld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Sitzung 12:</a:t>
            </a:r>
          </a:p>
        </p:txBody>
      </p:sp>
    </p:spTree>
  </p:cSld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Sitzung 13: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Konzeption Digitaler Inhalte</dc:title>
  <dc:creator>Dr. Tom Alby</dc:creator>
  <cp:keywords/>
  <dcterms:created xsi:type="dcterms:W3CDTF">2025-12-01T20:55:52Z</dcterms:created>
  <dcterms:modified xsi:type="dcterms:W3CDTF">2025-12-01T20:55:52Z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ffiliation">
    <vt:lpwstr/>
  </property>
  <property fmtid="{D5CDD505-2E9C-101B-9397-08002B2CF9AE}" pid="6" name="by-author">
    <vt:lpwstr/>
  </property>
  <property fmtid="{D5CDD505-2E9C-101B-9397-08002B2CF9AE}" pid="7" name="date">
    <vt:lpwstr>2025-12-01</vt:lpwstr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institute">
    <vt:lpwstr>“HAW Hamburg”</vt:lpwstr>
  </property>
  <property fmtid="{D5CDD505-2E9C-101B-9397-08002B2CF9AE}" pid="12" name="institutes">
    <vt:lpwstr/>
  </property>
  <property fmtid="{D5CDD505-2E9C-101B-9397-08002B2CF9AE}" pid="13" name="labels">
    <vt:lpwstr/>
  </property>
  <property fmtid="{D5CDD505-2E9C-101B-9397-08002B2CF9AE}" pid="14" name="slide-number">
    <vt:lpwstr>True</vt:lpwstr>
  </property>
  <property fmtid="{D5CDD505-2E9C-101B-9397-08002B2CF9AE}" pid="15" name="toc-title">
    <vt:lpwstr>Table of contents</vt:lpwstr>
  </property>
</Properties>
</file>