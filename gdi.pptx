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openxmlformats.org/package/2006/relationships/metadata/extended-properties" Target="docProps/app0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43" autoAdjust="0"/>
    <p:restoredTop sz="94726" autoAdjust="0"/>
  </p:normalViewPr>
  <p:slideViewPr>
    <p:cSldViewPr snapToGrid="0" snapToObjects="1">
      <p:cViewPr varScale="1">
        <p:scale>
          <a:sx n="160" d="100"/>
          <a:sy n="160" d="100"/>
        </p:scale>
        <p:origin x="424" y="176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presProps" Target="presProps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viewProps" Target="viewProps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theme" Target="theme/theme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11/28/25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11/28/25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11/28/25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11/28/25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11/28/25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11/28/25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11/28/25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marL="0" lvl="0" indent="0">
              <a:buNone/>
            </a:pPr>
            <a:r>
              <a:t>Konzeption Digitaler Inhalte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marL="0" lvl="0" indent="0">
              <a:buNone/>
            </a:pPr>
            <a:br/>
            <a:br/>
            <a:r>
              <a:t>Dr. Tom Alby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lvl="0" indent="0">
              <a:buNone/>
            </a:pPr>
            <a:r>
              <a:t>2025-11-28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>
              <a:buNone/>
            </a:pPr>
            <a:r>
              <a:t>Sitzung 1: Einführung, Organisatorisches und Grundlage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Aus dem Modulhandbuch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Die Studierenden können Prozesse und Strukturen in der Informations- und Medienwirtschaft implementieren und Digital-Produkte entwickeln, indem sie</a:t>
            </a:r>
          </a:p>
          <a:p>
            <a:pPr lvl="0"/>
            <a:r>
              <a:t>digitale Inhalte, Daten- und Medienprodukte sowie interaktive Darstellungsformen beispielsweise mit Methoden der User Experience konzipieren und realisieren,</a:t>
            </a:r>
          </a:p>
          <a:p>
            <a:pPr lvl="0"/>
            <a:r>
              <a:t>um innovative Gestaltungsformate zu etablieren und damit Zielgruppen überprüfbar zu erreichen.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Aus dem Modulhandbuch,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Die Studierenden können digitale Transformation verantwortungsbewusst und adressatengerecht gestalten, indem sie</a:t>
            </a:r>
          </a:p>
          <a:p>
            <a:pPr lvl="0"/>
            <a:r>
              <a:t>Prozesse und Strukturen in der Informations- und Medienwirtschaft implementieren und digitale Produkte konzipieren und entwickeln;</a:t>
            </a:r>
          </a:p>
          <a:p>
            <a:pPr lvl="0"/>
            <a:r>
              <a:t>Informationen, Inhalte und Datenbestände erschließen, kuratieren, aufbereiten, lizenzieren und publizieren;</a:t>
            </a:r>
          </a:p>
          <a:p>
            <a:pPr lvl="0"/>
            <a:r>
              <a:t>Daten, digitale Medien und Technologien zielgruppenspezifisch vermitteln und kommunizieren.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Kursziele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Rolle von Daten: Unterschied zwischen Daten, Informationen und Erkenntnissen verstehen und digitale Inhalte daran ausrichten.</a:t>
            </a:r>
          </a:p>
          <a:p>
            <a:pPr lvl="0"/>
            <a:r>
              <a:t>Personalisierung und Empfehlung: Sie wenden einfache Segmentierungs‑ und Assoziationsverfahren an, um Inhalte zielgruppenspezifisch zu empfehlen.</a:t>
            </a:r>
          </a:p>
          <a:p>
            <a:pPr lvl="0"/>
            <a:r>
              <a:t>Erfolgsüberprüfung: Sie definieren und überprüfen relevante KPIs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Prüfungsleistung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Prüfungsleistung: 20‑minütiges Referat (mündliche Prüfung) und/oder 3–5‑seitiger Kurzbericht (schriftliche Prüfung): Segmentierung einer Zielgruppe auf Basis von Daten, Konzept eines Datenprodukts, Erfolgsdefinition und -Reportingkonzept.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Logistik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Teilnahme online möglich, keine Aufzeichnung</a:t>
            </a:r>
          </a:p>
          <a:p>
            <a:pPr lvl="0"/>
            <a:r>
              <a:t>Moodle Einschreibepasswort: CommanderData!</a:t>
            </a:r>
          </a:p>
          <a:p>
            <a:pPr lvl="0"/>
            <a:r>
              <a:t>ChatGPT &amp; Co sind ausdrücklich erlaubt, aber Sie müssen das Protokoll teilen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Definitionen: Was sind digitale Inhalte, Daten- und Medienprodukte?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Definitionen: Was sind “innovative Gestaltungsformate”?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Was bedeutet “überprüfbar erreichen”?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Was bedeutet…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“Prozesse und Strukturen in der Informations- und Medienwirtschaft implementieren und digitale Produkte konzipieren und entwickeln”?</a:t>
            </a:r>
          </a:p>
          <a:p>
            <a:pPr lvl="0"/>
            <a:r>
              <a:t>“Informationen, Inhalte und Datenbestände erschließen, kuratieren, aufbereiten, lizenzieren und publizieren”?</a:t>
            </a:r>
          </a:p>
          <a:p>
            <a:pPr lvl="0"/>
            <a:r>
              <a:t>“Daten, digitale Medien und Technologien zielgruppenspezifisch vermitteln und kommunizieren”?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Was sind Daten überhaupt?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i="1"/>
              <a:t>Daten</a:t>
            </a:r>
          </a:p>
          <a:p>
            <a:pPr lvl="1"/>
            <a:r>
              <a:t>Roh, ungeordnet, noch nicht interpretiert</a:t>
            </a:r>
          </a:p>
          <a:p>
            <a:pPr lvl="1"/>
            <a:r>
              <a:t>Bestehen aus Zahlen, Zeichen, Fakten ohne Kontext</a:t>
            </a:r>
          </a:p>
          <a:p>
            <a:pPr lvl="0"/>
            <a:r>
              <a:rPr i="1"/>
              <a:t>Informationen</a:t>
            </a:r>
          </a:p>
          <a:p>
            <a:pPr lvl="1"/>
            <a:r>
              <a:t>Verarbeitete, kontextualisierte Daten</a:t>
            </a:r>
          </a:p>
          <a:p>
            <a:pPr lvl="1"/>
            <a:r>
              <a:t>Haben Bedeutung und Relevanz für eine Fragestellung</a:t>
            </a:r>
          </a:p>
          <a:p>
            <a:pPr lvl="1"/>
            <a:r>
              <a:rPr b="1"/>
              <a:t>Daten + Kontext = Information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Datenkompetenz nach Ridsdale et al</a:t>
            </a:r>
          </a:p>
        </p:txBody>
      </p:sp>
      <p:pic>
        <p:nvPicPr>
          <p:cNvPr id="3" name="Picture 1" descr="images/Ridsdale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800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DIKW-Pyramide</a:t>
            </a:r>
          </a:p>
        </p:txBody>
      </p:sp>
      <p:pic>
        <p:nvPicPr>
          <p:cNvPr id="3" name="Picture 1" descr="images/dikw-pyramid-removebg-preview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65400" y="1193800"/>
            <a:ext cx="4013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Toms Pyramide</a:t>
            </a:r>
          </a:p>
        </p:txBody>
      </p:sp>
      <p:pic>
        <p:nvPicPr>
          <p:cNvPr id="3" name="Picture 1" descr="images/tattoo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Relevanz in der Aufmerksamkeitsökonomie</a:t>
            </a:r>
          </a:p>
        </p:txBody>
      </p:sp>
      <p:pic>
        <p:nvPicPr>
          <p:cNvPr id="3" name="Picture 1" descr="images/relevance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84400" y="1193800"/>
            <a:ext cx="4775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Wie können wir Daten nutzen, um Relevanz zu erzeugen?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Aufmerksamkeit als knappes Gut</a:t>
            </a:r>
            <a:r>
              <a:t>: In der „Attention Economy“ zahlen Nutzer*innen mit ihrer Aufmerksamkeit; Informationsüberflutung erfordert filternde Mechanismen.</a:t>
            </a:r>
          </a:p>
          <a:p>
            <a:pPr lvl="0"/>
            <a:r>
              <a:rPr b="1"/>
              <a:t>Data Mining als Brücke</a:t>
            </a:r>
            <a:r>
              <a:t>: Data Mining extrahiert Muster und Korrelationen aus großen Datenmengen, um relevante Informationen zu erzeugen.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Beispiel: Newsletter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Was ist das Ziel/sind die Ziele eines Newsletters?</a:t>
            </a:r>
          </a:p>
          <a:p>
            <a:pPr lvl="0"/>
            <a:r>
              <a:t>Was sind mögliche KPIs?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Wie funktioniert Data Mining?</a:t>
            </a:r>
          </a:p>
        </p:txBody>
      </p:sp>
      <p:pic>
        <p:nvPicPr>
          <p:cNvPr id="3" name="Picture 1" descr="images/CRISP-DM_Process_Diagram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82900" y="1193800"/>
            <a:ext cx="3378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Data Mining-Sprachen und -Systeme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SPSS / PSPP</a:t>
            </a:r>
          </a:p>
          <a:p>
            <a:pPr lvl="0"/>
            <a:r>
              <a:t>SAS</a:t>
            </a:r>
          </a:p>
          <a:p>
            <a:pPr lvl="0"/>
            <a:r>
              <a:t>Python</a:t>
            </a:r>
          </a:p>
          <a:p>
            <a:pPr lvl="0"/>
            <a:r>
              <a:t>Scala</a:t>
            </a:r>
          </a:p>
          <a:p>
            <a:pPr lvl="0"/>
            <a:r>
              <a:t>Julia</a:t>
            </a:r>
          </a:p>
          <a:p>
            <a:pPr lvl="0"/>
            <a:r>
              <a:t>R</a:t>
            </a:r>
          </a:p>
          <a:p>
            <a:pPr lvl="0"/>
            <a:r>
              <a:t>Knime</a:t>
            </a:r>
          </a:p>
          <a:p>
            <a:pPr lvl="0"/>
            <a:r>
              <a:t>…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Welche Inhalte wünschen Sie sich noch?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Nächste Schritte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Überlegen Sie sich ein Thema für ein digitales Produkt</a:t>
            </a:r>
          </a:p>
          <a:p>
            <a:pPr lvl="0"/>
            <a:r>
              <a:t>Identifizieren Sie Daten, die die Zielgruppe definieren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>
              <a:buNone/>
            </a:pPr>
            <a:r>
              <a:t>Sitzung 2: Daten-Akquise und -Überprüfung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Datenquellen: Primärdaten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Interviews</a:t>
            </a:r>
          </a:p>
          <a:p>
            <a:pPr lvl="0"/>
            <a:r>
              <a:t>Umfragen</a:t>
            </a:r>
          </a:p>
          <a:p>
            <a:pPr lvl="0"/>
            <a:r>
              <a:t>Experimente / Messungen</a:t>
            </a:r>
          </a:p>
          <a:p>
            <a:pPr lvl="0"/>
            <a:r>
              <a:t>Tracking (eigene Tools oder Tools Dritter)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Datenquellen: Sekundärdaten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Statistisches Bundesamt</a:t>
            </a:r>
          </a:p>
          <a:p>
            <a:pPr lvl="0"/>
            <a:r>
              <a:t>GfK, Brandindex, Statista</a:t>
            </a:r>
          </a:p>
          <a:p>
            <a:pPr lvl="0"/>
            <a:r>
              <a:t>Open-Data-Portale</a:t>
            </a:r>
          </a:p>
          <a:p>
            <a:pPr lvl="0"/>
            <a:r>
              <a:t>Google-Tools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Fragen zur Datenqualität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Wer hat die Daten erhoben?</a:t>
            </a:r>
          </a:p>
          <a:p>
            <a:pPr lvl="0"/>
            <a:r>
              <a:t>Zu welchem Zweck?</a:t>
            </a:r>
          </a:p>
          <a:p>
            <a:pPr lvl="0"/>
            <a:r>
              <a:t>Ist die Stichprobe repräsentativ?</a:t>
            </a:r>
          </a:p>
          <a:p>
            <a:pPr lvl="0"/>
            <a:r>
              <a:t>Sind die Variablen klar definiert?</a:t>
            </a:r>
          </a:p>
          <a:p>
            <a:pPr lvl="0"/>
            <a:r>
              <a:t>Sind die Befragten voreingenommen?</a:t>
            </a:r>
          </a:p>
          <a:p>
            <a:pPr lvl="0"/>
            <a:r>
              <a:t>Wie zuverlässig (reliabel) und gültig (valide) sind die Messungen?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Reliabilität &amp; Validität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Reliabilität</a:t>
            </a:r>
            <a:br/>
            <a:r>
              <a:t>- Misst das Instrument konsistent?</a:t>
            </a:r>
            <a:br/>
            <a:r>
              <a:t>- Beispiel: Wiederholte Befragung führt zu ähnlichen Ergebnissen.</a:t>
            </a:r>
          </a:p>
          <a:p>
            <a:pPr marL="0" lvl="0" indent="0">
              <a:buNone/>
            </a:pPr>
            <a:r>
              <a:rPr b="1"/>
              <a:t>Validität</a:t>
            </a:r>
            <a:br/>
            <a:r>
              <a:t>- Misst das Instrument, was es messen soll?</a:t>
            </a:r>
            <a:br/>
            <a:r>
              <a:t>- Beispiel: „Zufriedenheit“ darf nicht nur mit „Häufigkeit der Nutzung“ gleichgesetzt werden.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Häufige Probleme bei Stichproben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Convenience Sampling:</a:t>
            </a:r>
            <a:r>
              <a:t> Auswahl der Personen, die leicht erreichbar sind – aber nicht repräsentativ.</a:t>
            </a:r>
          </a:p>
          <a:p>
            <a:pPr lvl="0"/>
            <a:r>
              <a:rPr b="1"/>
              <a:t>Non-Response-Bias:</a:t>
            </a:r>
            <a:r>
              <a:t> Bestimmte Gruppen nehmen systematisch nicht teil.</a:t>
            </a:r>
          </a:p>
          <a:p>
            <a:pPr lvl="0"/>
            <a:r>
              <a:rPr b="1"/>
              <a:t>Kulturelle Antwortverzerrung:</a:t>
            </a:r>
            <a:r>
              <a:t> Ein „Nein“ ist in manchen Kulturen sozial unerwünscht.</a:t>
            </a:r>
          </a:p>
          <a:p>
            <a:pPr lvl="0"/>
            <a:r>
              <a:rPr b="1"/>
              <a:t>Soziale Erwünschtheit:</a:t>
            </a:r>
            <a:r>
              <a:t> Menschen geben Antworten, die gut klingen – nicht unbedingt die Wahrheit.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Website-Umfrage</a:t>
            </a:r>
          </a:p>
        </p:txBody>
      </p:sp>
      <p:pic>
        <p:nvPicPr>
          <p:cNvPr id="3" name="Picture 1" descr="images/hp-umfrage-website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11400" y="1193800"/>
            <a:ext cx="4508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Umfrage vor Weiterleitung</a:t>
            </a:r>
          </a:p>
        </p:txBody>
      </p:sp>
      <p:pic>
        <p:nvPicPr>
          <p:cNvPr id="3" name="Picture 1" descr="images/google-umfrage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187700" y="1193800"/>
            <a:ext cx="2755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Soziale Erwünschtheit</a:t>
            </a:r>
          </a:p>
        </p:txBody>
      </p:sp>
      <p:pic>
        <p:nvPicPr>
          <p:cNvPr id="3" name="Picture 1" descr="images/adblocker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81300" y="1193800"/>
            <a:ext cx="359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Glauben Sie das?</a:t>
            </a:r>
          </a:p>
        </p:txBody>
      </p:sp>
      <p:pic>
        <p:nvPicPr>
          <p:cNvPr id="3" name="Picture 1" descr="images/b4p_Fake_News_gallery11-768x549-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1193800"/>
            <a:ext cx="4749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Wie waren die Fragen eigentlich gestellt?</a:t>
            </a:r>
          </a:p>
        </p:txBody>
      </p:sp>
      <p:pic>
        <p:nvPicPr>
          <p:cNvPr id="3" name="Picture 1" descr="images/b4p-fragen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787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Wie kommt es zu dem Ergebnis?</a:t>
            </a:r>
          </a:p>
        </p:txBody>
      </p:sp>
      <p:pic>
        <p:nvPicPr>
          <p:cNvPr id="3" name="Picture 1" descr="images/b4p-daten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36700"/>
            <a:ext cx="8229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Beispiele für Umfrageverzerrungen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Bias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Beschreibung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Yes Bias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Tendenz, Aussagen zuzustimmen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No Bias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Tendenz, Aussagen abzulehnen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Middle Bias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Auswahl neutraler Antwortoptionen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Logical 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Überrationalisiertes Antworten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Convenience Sampling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Auswahl leicht erreichbarer Personen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Weitere typische Verzerrungen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Recall Bias:</a:t>
            </a:r>
            <a:r>
              <a:t> Falsche Erinnerung bei retrospektiven Fragen.</a:t>
            </a:r>
          </a:p>
          <a:p>
            <a:pPr lvl="0"/>
            <a:r>
              <a:rPr b="1"/>
              <a:t>Survivorship Bias:</a:t>
            </a:r>
            <a:r>
              <a:t> Nur „Überlebende“ werden betrachtet, z. B. erfolgreiche Start-ups.</a:t>
            </a:r>
          </a:p>
          <a:p>
            <a:pPr lvl="0"/>
            <a:r>
              <a:rPr b="1"/>
              <a:t>Algorithmic Bias:</a:t>
            </a:r>
            <a:r>
              <a:t> Verzerrte Trainingsdaten führen zu unfairen Modellen.</a:t>
            </a:r>
          </a:p>
          <a:p>
            <a:pPr lvl="0"/>
            <a:r>
              <a:rPr b="1"/>
              <a:t>Availability Bias:</a:t>
            </a:r>
            <a:r>
              <a:t> Häufig Gehörtes wird überschätzt.</a:t>
            </a:r>
          </a:p>
          <a:p>
            <a:pPr lvl="0"/>
            <a:r>
              <a:rPr b="1"/>
              <a:t>Confirmation Bias:</a:t>
            </a:r>
            <a:r>
              <a:t> Suche nach bestätigenden Informationen.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Der Bestätigungsfehler (Confirmation Bias)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Wir suchen bevorzugt nach Daten, die unsere Meinung </a:t>
            </a:r>
            <a:r>
              <a:rPr b="1"/>
              <a:t>bestätigen</a:t>
            </a:r>
            <a:r>
              <a:t>.</a:t>
            </a:r>
          </a:p>
          <a:p>
            <a:pPr lvl="0"/>
            <a:r>
              <a:t>Widersprüchliche Daten werden ignoriert</a:t>
            </a:r>
          </a:p>
          <a:p>
            <a:pPr lvl="0"/>
            <a:r>
              <a:t>Unterstützende Daten werden überbewertet</a:t>
            </a:r>
          </a:p>
          <a:p>
            <a:pPr lvl="0"/>
            <a:r>
              <a:t>„Cherry Picking“ bei der Datenauswahl</a:t>
            </a:r>
          </a:p>
          <a:p>
            <a:pPr marL="0" lvl="0" indent="0">
              <a:buNone/>
            </a:pPr>
            <a:r>
              <a:rPr b="1"/>
              <a:t>Das größte Risiko für Verzerrung sind wir selbst.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Survivorship Bias</a:t>
            </a:r>
          </a:p>
        </p:txBody>
      </p:sp>
      <p:pic>
        <p:nvPicPr>
          <p:cNvPr id="3" name="Picture 1" descr="images/Survivorship-bias.svg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4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Survivorship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(Verzerrung zugunsten der Überlebenden)</a:t>
            </a:r>
          </a:p>
          <a:p>
            <a:pPr lvl="0"/>
            <a:r>
              <a:t>Wir sehen nur die „Überlebenden“ – also erfolgreiche Fälle</a:t>
            </a:r>
          </a:p>
          <a:p>
            <a:pPr lvl="0"/>
            <a:r>
              <a:t>Gescheiterte Beispiele fehlen in den Daten</a:t>
            </a:r>
          </a:p>
          <a:p>
            <a:pPr lvl="0"/>
            <a:r>
              <a:t>Führt zu falschen Schlussfolgerungen über Erfolg</a:t>
            </a:r>
          </a:p>
          <a:p>
            <a:pPr marL="0" lvl="0" indent="0">
              <a:buNone/>
            </a:pPr>
            <a:r>
              <a:rPr i="1"/>
              <a:t>Beispiel:</a:t>
            </a:r>
            <a:r>
              <a:t> Analyse erfolgreicher Start-ups ohne Berücksichtigung der gescheiterten.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Stichprobenverzerrung</a:t>
            </a:r>
          </a:p>
        </p:txBody>
      </p:sp>
      <p:pic>
        <p:nvPicPr>
          <p:cNvPr id="3" name="Picture 1" descr="images/Ottenser_Hauptstraße.jp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11400" y="1193800"/>
            <a:ext cx="4521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Stichprobenverzerrung</a:t>
            </a:r>
          </a:p>
        </p:txBody>
      </p:sp>
      <p:pic>
        <p:nvPicPr>
          <p:cNvPr id="3" name="Picture 1" descr="images/pinterest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057400"/>
            <a:ext cx="8229600" cy="166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Fallbeispiel: Der Fehler der </a:t>
            </a:r>
            <a:r>
              <a:rPr i="1"/>
              <a:t>Literary Digest</a:t>
            </a:r>
            <a:r>
              <a:t>-Umfrage (1936)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Befragte Leser, Auto- und Telefonbesitzer</a:t>
            </a:r>
          </a:p>
          <a:p>
            <a:pPr lvl="0"/>
            <a:r>
              <a:t>Ergebnis: Landon gewinnt gegen Roosevelt</a:t>
            </a:r>
          </a:p>
          <a:p>
            <a:pPr lvl="0"/>
            <a:r>
              <a:t>Realität: Roosevelt siegte deutlich</a:t>
            </a:r>
          </a:p>
          <a:p>
            <a:pPr lvl="0"/>
            <a:r>
              <a:t>Ursache: </a:t>
            </a:r>
            <a:r>
              <a:rPr b="1"/>
              <a:t>Selection Bias</a:t>
            </a:r>
            <a:r>
              <a:t> – wohlhabende Befragte waren überrepräsentiert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Stichprobenverzerrung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Systematische Abweichung durch fehlerhafte Auswahl</a:t>
            </a:r>
          </a:p>
          <a:p>
            <a:pPr lvl="0"/>
            <a:r>
              <a:t>Auch große Stichproben helfen nicht, wenn sie nicht zufällig sind</a:t>
            </a:r>
          </a:p>
          <a:p>
            <a:pPr lvl="0"/>
            <a:r>
              <a:t>Beispiel: Online-Umfragen erreichen nur digital affine Personen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Gegenmaßnahmen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Kritische Prüfung von Datenquellen und Methoden</a:t>
            </a:r>
          </a:p>
          <a:p>
            <a:pPr lvl="0"/>
            <a:r>
              <a:t>Kombination mehrerer Quellen (Triangulation)</a:t>
            </a:r>
          </a:p>
          <a:p>
            <a:pPr lvl="0"/>
            <a:r>
              <a:t>Dokumentation der Stichprobenverfahren</a:t>
            </a:r>
          </a:p>
          <a:p>
            <a:pPr lvl="0"/>
            <a:r>
              <a:t>Qualitative Validierung der Ergebnisse</a:t>
            </a:r>
          </a:p>
          <a:p>
            <a:pPr lvl="0"/>
            <a:r>
              <a:t>Randomisierung oder Stratifizierung</a:t>
            </a:r>
          </a:p>
          <a:p>
            <a:pPr lvl="0"/>
            <a:r>
              <a:t>Sensitivitätsanalyse: Wie stabil sind Ergebnisse bei Annahmeänderungen?</a:t>
            </a:r>
          </a:p>
          <a:p>
            <a:pPr lvl="0"/>
            <a:r>
              <a:t>Bewusstsein für eigene kognitiven Verzerrungen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Stratifizierung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Definition:</a:t>
            </a:r>
            <a:br/>
            <a:r>
              <a:t>Unterteilung der Grundgesamtheit in </a:t>
            </a:r>
            <a:r>
              <a:rPr b="1"/>
              <a:t>Teilgruppen (Strata)</a:t>
            </a:r>
            <a:r>
              <a:t> mit ähnlichen Merkmalen, bevor daraus zufällig gezogen wird.</a:t>
            </a:r>
          </a:p>
          <a:p>
            <a:pPr marL="0" lvl="0" indent="0">
              <a:buNone/>
            </a:pPr>
            <a:r>
              <a:rPr b="1"/>
              <a:t>Beispiel:</a:t>
            </a:r>
            <a:br/>
            <a:r>
              <a:t>Bei einer Umfrage in Deutschland werden die Teilnehmenden zunächst nach Geschlecht (m / w / d), Altersgruppen (18–29, 30–49, 50+), Region (Nord, Süd, Ost, West)</a:t>
            </a:r>
            <a:br/>
            <a:r>
              <a:t>eingeteilt. Anschließend erfolgt die Zufallsauswahl </a:t>
            </a:r>
            <a:r>
              <a:rPr b="1"/>
              <a:t>innerhalb jedes Stratum</a:t>
            </a:r>
            <a:r>
              <a:t>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Nächste Schritte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Überlegen Sie sich ein Thema für ein digitales Produkt</a:t>
            </a:r>
          </a:p>
          <a:p>
            <a:pPr lvl="0"/>
            <a:r>
              <a:t>Identifizieren Sie Daten, die die Zielgruppe definieren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>
              <a:buNone/>
            </a:pPr>
            <a:r>
              <a:t>Sitzung 3: Lean Content Strategy Canvas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Bitte beachten Sie die Templates im Moodle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>
              <a:buNone/>
            </a:pPr>
            <a:r>
              <a:t>Sitzung 4: Besprechung Canvases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Review der Canvases aus Session 3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>
              <a:buNone/>
            </a:pPr>
            <a:r>
              <a:t>Sitzung 5: Wie kommen Nutzer zu meinen Inhalten?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Wie finden Nutzer meine Inhalte?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…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Push vs. Pull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Teilen Sie Ihnen bekannte Kanäle ein!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Owned / Earned / Paid Media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Owned = du kontrollierst es</a:t>
            </a:r>
          </a:p>
          <a:p>
            <a:pPr lvl="0"/>
            <a:r>
              <a:t>Earned = andere reden über dich</a:t>
            </a:r>
          </a:p>
          <a:p>
            <a:pPr lvl="0"/>
            <a:r>
              <a:t>Paid = du kaufst dir Aufmerksamkeit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Wie wird man Influencer? (aus letzter Session)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Rage Bait / Click Bait</a:t>
            </a:r>
          </a:p>
          <a:p>
            <a:pPr lvl="0"/>
            <a:r>
              <a:t>Community durch USP</a:t>
            </a:r>
          </a:p>
          <a:p>
            <a:pPr lvl="0"/>
            <a:r>
              <a:t>Regelmäßige Posts, jeden Tag, verschiedene Formate, mehrere Plattformen</a:t>
            </a:r>
          </a:p>
          <a:p>
            <a:pPr lvl="0"/>
            <a:r>
              <a:t>Stringenz im Content, Spezialisierung</a:t>
            </a:r>
          </a:p>
          <a:p>
            <a:pPr lvl="0"/>
            <a:r>
              <a:t>Shitstorms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Inhalte als Lead-Magnet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„Was bekomme ich, wenn ich Ihnen meine Aufmerksamkeit (oder E-Mail) gebe?“</a:t>
            </a:r>
          </a:p>
          <a:p>
            <a:pPr lvl="0"/>
            <a:r>
              <a:t>Typische Lead-Magneten: Whitepaper, Checklisten, Tools, exklusive Dashboards.</a:t>
            </a:r>
          </a:p>
          <a:p>
            <a:pPr lvl="0"/>
            <a:r>
              <a:t>Verbindung zu Content Value Proposition?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Das LIFT-Modell</a:t>
            </a:r>
          </a:p>
        </p:txBody>
      </p:sp>
      <p:pic>
        <p:nvPicPr>
          <p:cNvPr id="3" name="Picture 1" descr="images/lift-modell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12900" y="1193800"/>
            <a:ext cx="5905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Die neue Herausforderung: AEO &amp; GEO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SEO: Search Engine Optimization</a:t>
            </a:r>
          </a:p>
          <a:p>
            <a:pPr lvl="0"/>
            <a:r>
              <a:t>AEO: Answer Engine Optimization</a:t>
            </a:r>
          </a:p>
          <a:p>
            <a:pPr lvl="0"/>
            <a:r>
              <a:t>GEO: Generative Engine Optimization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Der Alligator</a:t>
            </a:r>
          </a:p>
        </p:txBody>
      </p:sp>
      <p:pic>
        <p:nvPicPr>
          <p:cNvPr id="3" name="Picture 1" descr="images/alligator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Real Estate geht verloren</a:t>
            </a:r>
          </a:p>
        </p:txBody>
      </p:sp>
      <p:pic>
        <p:nvPicPr>
          <p:cNvPr id="3" name="Picture 1" descr="images/real-estate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6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Real Estate geht verloren</a:t>
            </a:r>
          </a:p>
        </p:txBody>
      </p:sp>
      <p:pic>
        <p:nvPicPr>
          <p:cNvPr id="3" name="Picture 1" descr="images/real-estate2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6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Real Estate geht verloren</a:t>
            </a:r>
          </a:p>
        </p:txBody>
      </p:sp>
      <p:pic>
        <p:nvPicPr>
          <p:cNvPr id="3" name="Picture 1" descr="images/real-estate3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6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Real Estate geht verloren</a:t>
            </a:r>
          </a:p>
        </p:txBody>
      </p:sp>
      <p:pic>
        <p:nvPicPr>
          <p:cNvPr id="3" name="Picture 1" descr="images/chatgpt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46300" y="1193800"/>
            <a:ext cx="486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Real Estate geht verloren</a:t>
            </a:r>
          </a:p>
        </p:txBody>
      </p:sp>
      <p:pic>
        <p:nvPicPr>
          <p:cNvPr id="3" name="Picture 1" descr="images/chatgpt2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46300" y="1193800"/>
            <a:ext cx="486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Nutzerverhalten 2024–2025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Große Verschiebung bei den Jüngeren: ChatGPT, TikTok und Instagram für Suche</a:t>
            </a:r>
          </a:p>
          <a:p>
            <a:pPr lvl="0"/>
            <a:r>
              <a:t>Claneo-Studie 2025:</a:t>
            </a:r>
          </a:p>
          <a:p>
            <a:pPr lvl="1"/>
            <a:r>
              <a:rPr b="1"/>
              <a:t>KI-Chatbots</a:t>
            </a:r>
            <a:r>
              <a:t>: Nutzung 18 % (2024) → 33 % (2025)</a:t>
            </a:r>
          </a:p>
          <a:p>
            <a:pPr lvl="1"/>
            <a:r>
              <a:rPr b="1"/>
              <a:t>KI-Suchmaschinen</a:t>
            </a:r>
            <a:r>
              <a:t> (Perplexity etc.) 14 % → 17 %</a:t>
            </a:r>
          </a:p>
          <a:p>
            <a:pPr lvl="1"/>
            <a:r>
              <a:rPr b="1"/>
              <a:t>Klassische Suchmaschinen</a:t>
            </a:r>
            <a:r>
              <a:t> sinken leicht, bleiben aber dominant.</a:t>
            </a:r>
            <a:br/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Diskussion: Wo liegt meine Audience?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Nächste Schritte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Bitte überarbeiten Sie Ihre Canvases in Bezug auf die Kanäle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>
              <a:buNone/>
            </a:pPr>
            <a:r>
              <a:t>Sitzung 6: Erfolgsmessung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Warum Erfolgsmessung?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Ohne klare Ziele sind Metriken bedeutungslos</a:t>
            </a:r>
          </a:p>
          <a:p>
            <a:pPr lvl="0"/>
            <a:r>
              <a:t>Wie zahlt eine Website/App auf das Businessziel ein?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Ziele (Business Outcomes)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Mehr Leads</a:t>
            </a:r>
          </a:p>
          <a:p>
            <a:pPr lvl="0"/>
            <a:r>
              <a:t>Mehr Anmeldungen</a:t>
            </a:r>
          </a:p>
          <a:p>
            <a:pPr lvl="0"/>
            <a:r>
              <a:t>Mehr aktive Nutzer (Werbeeinblendungen)</a:t>
            </a:r>
          </a:p>
          <a:p>
            <a:pPr lvl="0"/>
            <a:r>
              <a:t>Mehr Abschlüsse / Käufe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Conversions (Content-Abschlüsse)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Newsletter-Anmeldung</a:t>
            </a:r>
          </a:p>
          <a:p>
            <a:pPr lvl="0"/>
            <a:r>
              <a:t>PDF-Download</a:t>
            </a:r>
          </a:p>
          <a:p>
            <a:pPr lvl="0"/>
            <a:r>
              <a:t>Formularabschluss</a:t>
            </a:r>
          </a:p>
          <a:p>
            <a:pPr lvl="0"/>
            <a:r>
              <a:t>Video bis 75 % (falls Hauptzweck)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Micro-Conversions (Frühindikatoren)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Scrolltiefe</a:t>
            </a:r>
          </a:p>
          <a:p>
            <a:pPr lvl="0"/>
            <a:r>
              <a:t>Element Visibility</a:t>
            </a:r>
          </a:p>
          <a:p>
            <a:pPr lvl="0"/>
            <a:r>
              <a:t>Formularstart</a:t>
            </a:r>
          </a:p>
          <a:p>
            <a:pPr lvl="0"/>
            <a:r>
              <a:t>Klicks auf Module (Tabs, Slider, Quiz)</a:t>
            </a:r>
          </a:p>
          <a:p>
            <a:pPr lvl="0"/>
            <a:r>
              <a:t>Copy-to-Clipboard</a:t>
            </a:r>
          </a:p>
          <a:p>
            <a:pPr lvl="0"/>
            <a:r>
              <a:t>Video-Start oder 25 % Fortschritt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Keine guten KPIs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Zeit auf Seite / Engaged Sessions</a:t>
            </a:r>
          </a:p>
          <a:p>
            <a:pPr lvl="0"/>
            <a:r>
              <a:t>Seiten/Sitzung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Scrolltiefe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Erfasst, wie weit Nutzer tatsächlich auf einer Seite nach unten gelangen</a:t>
            </a:r>
          </a:p>
          <a:p>
            <a:pPr lvl="0"/>
            <a:r>
              <a:t>Geringe Scrolltiefe + hohe Absprungrate → falsches Thema oder schwacher Einstieg</a:t>
            </a:r>
          </a:p>
          <a:p>
            <a:pPr lvl="0"/>
            <a:r>
              <a:t>Hohe Scrolltiefe + wenige Conversions → Interesse vorhanden, CTA/Angebot zu schwach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Element Visibility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Misst, ob ein Element im </a:t>
            </a:r>
            <a:r>
              <a:rPr b="1"/>
              <a:t>Viewport</a:t>
            </a:r>
            <a:r>
              <a:t> sichtbar war</a:t>
            </a:r>
          </a:p>
          <a:p>
            <a:pPr lvl="0"/>
            <a:r>
              <a:t>Relevante Elemente: CTA, Download-Box, Formular, Produkt-Highlights</a:t>
            </a:r>
          </a:p>
          <a:p>
            <a:pPr marL="0" lvl="0" indent="0">
              <a:buNone/>
            </a:pPr>
            <a:r>
              <a:rPr b="1"/>
              <a:t>Nutzen:</a:t>
            </a:r>
            <a:br/>
            <a:r>
              <a:t>- Sichtbarkeit ≠ Klicks</a:t>
            </a:r>
            <a:br/>
            <a:r>
              <a:t>- Beispiel: „CTA wurde von 42 % gesehen, aber nur 3 % klickten“ → klare Optimierungsrichtung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Tools: Matomo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Matomo</a:t>
            </a:r>
            <a:br/>
            <a:r>
              <a:t>- Datensouveränität, DSGVO-freundlich</a:t>
            </a:r>
            <a:br/>
            <a:r>
              <a:t>- On-Premise möglich</a:t>
            </a:r>
            <a:br/>
            <a:r>
              <a:t>- Transparentes Event-Tracking</a:t>
            </a:r>
            <a:br/>
            <a:r>
              <a:t>- Klassisches Webanalyse-Modell - Demo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Tools: Google Analytics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Google Analytics (GA4)</a:t>
            </a:r>
            <a:br/>
            <a:r>
              <a:t>- Ereignisbasiertes Datenmodell</a:t>
            </a:r>
            <a:br/>
            <a:r>
              <a:t>- Automatische Events (Scrolls, Engagement, Outbound) - Kann auch Apps und Cross-Device Tracking - Moderne Metriken (Engaged Sessions, Predictive Signals)</a:t>
            </a:r>
            <a:br/>
            <a:r>
              <a:t>- Demo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KPIs: Reichweite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Unique Users</a:t>
            </a:r>
          </a:p>
          <a:p>
            <a:pPr lvl="0"/>
            <a:r>
              <a:t>Daily / Weekly / Monthly Active Users (DAU/WAU/MAU)</a:t>
            </a:r>
          </a:p>
          <a:p>
            <a:pPr lvl="0"/>
            <a:r>
              <a:t>Installs / First Opens (App)</a:t>
            </a:r>
          </a:p>
          <a:p>
            <a:pPr lvl="0"/>
            <a:r>
              <a:t>Traffic-Quellen</a:t>
            </a:r>
          </a:p>
          <a:p>
            <a:pPr lvl="0"/>
            <a:r>
              <a:t>Returning Visitor/User Rate</a:t>
            </a:r>
          </a:p>
          <a:p>
            <a:pPr lvl="0"/>
            <a:r>
              <a:t>Visibility in AEO/GEO (AI Overviews, Chatbot-Responses)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KPIs: Engagement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Session Frequency (Sessions/User/Tag oder Woche)</a:t>
            </a:r>
          </a:p>
          <a:p>
            <a:pPr lvl="0"/>
            <a:r>
              <a:t>Average Session Duration</a:t>
            </a:r>
          </a:p>
          <a:p>
            <a:pPr lvl="0"/>
            <a:r>
              <a:t>Screens per Session (App)</a:t>
            </a:r>
          </a:p>
          <a:p>
            <a:pPr lvl="0"/>
            <a:r>
              <a:t>Scrolltiefe (Web)</a:t>
            </a:r>
          </a:p>
          <a:p>
            <a:pPr lvl="0"/>
            <a:r>
              <a:t>Element Visibility (Web)</a:t>
            </a:r>
          </a:p>
          <a:p>
            <a:pPr lvl="0"/>
            <a:r>
              <a:t>Video-Metriken: Play Rate, Watch Time, Completion</a:t>
            </a:r>
          </a:p>
          <a:p>
            <a:pPr lvl="0"/>
            <a:r>
              <a:t>Feature Usage (App)</a:t>
            </a:r>
          </a:p>
          <a:p>
            <a:pPr lvl="0"/>
            <a:r>
              <a:t>In-App Events (z. B. „Added to Favourites“, „Completed Task“)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KPIs: Interaktion (Micro-Conversions)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CTA-Klicks</a:t>
            </a:r>
          </a:p>
          <a:p>
            <a:pPr lvl="0"/>
            <a:r>
              <a:t>Downloads (PDF, Asset, Datei)</a:t>
            </a:r>
          </a:p>
          <a:p>
            <a:pPr lvl="0"/>
            <a:r>
              <a:t>Formularstarts / Abbrüche</a:t>
            </a:r>
          </a:p>
          <a:p>
            <a:pPr lvl="0"/>
            <a:r>
              <a:t>Copy-to-Clipboard</a:t>
            </a:r>
          </a:p>
          <a:p>
            <a:pPr lvl="0"/>
            <a:r>
              <a:t>Onboarding Completion (App)</a:t>
            </a:r>
          </a:p>
          <a:p>
            <a:pPr lvl="0"/>
            <a:r>
              <a:t>Push-Notification Opt-in / Interaktion</a:t>
            </a:r>
          </a:p>
          <a:p>
            <a:pPr lvl="0"/>
            <a:r>
              <a:t>Deep-Link Events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KPIs: Conversion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Registrierungen</a:t>
            </a:r>
          </a:p>
          <a:p>
            <a:pPr lvl="0"/>
            <a:r>
              <a:t>Abschlüsse / Purchases</a:t>
            </a:r>
          </a:p>
          <a:p>
            <a:pPr lvl="0"/>
            <a:r>
              <a:t>Conversion Rate pro Funnel-Schritt</a:t>
            </a:r>
          </a:p>
          <a:p>
            <a:pPr lvl="0"/>
            <a:r>
              <a:t>Assisted Conversions (Multi-Touch)</a:t>
            </a:r>
          </a:p>
          <a:p>
            <a:pPr lvl="0"/>
            <a:r>
              <a:t>Upgrade Rate (Free → Paid, App)</a:t>
            </a:r>
          </a:p>
          <a:p>
            <a:pPr lvl="0"/>
            <a:r>
              <a:t>In-App Purchase Rate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KPIs: Qualität &amp; Stabilität (App)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Crash Rate</a:t>
            </a:r>
          </a:p>
          <a:p>
            <a:pPr lvl="0"/>
            <a:r>
              <a:t>Error Events</a:t>
            </a:r>
          </a:p>
          <a:p>
            <a:pPr lvl="0"/>
            <a:r>
              <a:t>App Start Time</a:t>
            </a:r>
          </a:p>
          <a:p>
            <a:pPr lvl="0"/>
            <a:r>
              <a:t>Load Time / Latency</a:t>
            </a:r>
          </a:p>
          <a:p>
            <a:pPr lvl="0"/>
            <a:r>
              <a:t>Failed Transactions</a:t>
            </a:r>
          </a:p>
          <a:p>
            <a:pPr lvl="0"/>
            <a:r>
              <a:t>Rage Clicks / Dead Clicks (optional, Web &amp; App)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KPIs: Bindung &amp; Churn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Retention (Day 1 / Day 7 / Day 30)</a:t>
            </a:r>
          </a:p>
          <a:p>
            <a:pPr lvl="0"/>
            <a:r>
              <a:t>Cohort Retention</a:t>
            </a:r>
          </a:p>
          <a:p>
            <a:pPr lvl="0"/>
            <a:r>
              <a:t>Churn Rate</a:t>
            </a:r>
          </a:p>
          <a:p>
            <a:pPr lvl="0"/>
            <a:r>
              <a:t>Re-Activation Rate</a:t>
            </a:r>
          </a:p>
          <a:p>
            <a:pPr lvl="0"/>
            <a:r>
              <a:t>Push Notification Re-Engagement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KPI vs. Ziel: Was ist der Unterschied?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Ziel</a:t>
            </a:r>
            <a:br/>
            <a:r>
              <a:t>- Beschreibt </a:t>
            </a:r>
            <a:r>
              <a:rPr i="1"/>
              <a:t>was</a:t>
            </a:r>
            <a:r>
              <a:t> erreicht werden soll</a:t>
            </a:r>
            <a:br/>
            <a:r>
              <a:t>- Ergebnisorientiert</a:t>
            </a:r>
            <a:br/>
            <a:r>
              <a:t>- Beispiel: „Mehr Registrierungen für meinen Kurs“</a:t>
            </a:r>
          </a:p>
          <a:p>
            <a:pPr marL="0" lvl="0" indent="0">
              <a:buNone/>
            </a:pPr>
            <a:r>
              <a:rPr b="1"/>
              <a:t>KPI</a:t>
            </a:r>
            <a:br/>
            <a:r>
              <a:t>- Beschreibt </a:t>
            </a:r>
            <a:r>
              <a:rPr i="1"/>
              <a:t>wie gut</a:t>
            </a:r>
            <a:r>
              <a:t> wir auf dem Weg zum Ziel sind</a:t>
            </a:r>
            <a:br/>
            <a:r>
              <a:t>- Messgröße, nicht das Ziel selbst</a:t>
            </a:r>
            <a:br/>
            <a:r>
              <a:t>- Beispiel: „Conversion Rate der Registrierungsseite“</a:t>
            </a:r>
          </a:p>
          <a:p>
            <a:pPr marL="0" lvl="0" indent="0">
              <a:buNone/>
            </a:pPr>
            <a:r>
              <a:rPr b="1"/>
              <a:t>Kurzform:</a:t>
            </a:r>
            <a:br/>
            <a:r>
              <a:t>Ziele definieren die Richtung – KPIs messen den Fortschritt.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Beispiele für Ziele und passende KPIs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Ziel:</a:t>
            </a:r>
            <a:r>
              <a:t> Mehr aktive Nutzer</a:t>
            </a:r>
            <a:br/>
            <a:r>
              <a:rPr b="1"/>
              <a:t>KPI:</a:t>
            </a:r>
            <a:r>
              <a:t> Daily/Weekly Active Users (DAU/WAU)</a:t>
            </a:r>
          </a:p>
          <a:p>
            <a:pPr marL="0" lvl="0" indent="0">
              <a:buNone/>
            </a:pPr>
            <a:r>
              <a:rPr b="1"/>
              <a:t>Ziel:</a:t>
            </a:r>
            <a:r>
              <a:t> Mehr Leads</a:t>
            </a:r>
            <a:br/>
            <a:r>
              <a:rPr b="1"/>
              <a:t>KPI:</a:t>
            </a:r>
            <a:r>
              <a:t> Formular-Conversion-Rate</a:t>
            </a:r>
          </a:p>
          <a:p>
            <a:pPr marL="0" lvl="0" indent="0">
              <a:buNone/>
            </a:pPr>
            <a:r>
              <a:rPr b="1"/>
              <a:t>Ziel:</a:t>
            </a:r>
            <a:r>
              <a:t> Bessere Content-Performance</a:t>
            </a:r>
            <a:br/>
            <a:r>
              <a:rPr b="1"/>
              <a:t>KPI:</a:t>
            </a:r>
            <a:r>
              <a:t> Scrolltiefe, Sichtbarkeit, Interaktionsraten</a:t>
            </a:r>
          </a:p>
          <a:p>
            <a:pPr marL="0" lvl="0" indent="0">
              <a:buNone/>
            </a:pPr>
            <a:r>
              <a:rPr b="1"/>
              <a:t>Ziel:</a:t>
            </a:r>
            <a:r>
              <a:t> Höhere Nutzerbindung</a:t>
            </a:r>
            <a:br/>
            <a:r>
              <a:rPr b="1"/>
              <a:t>KPI:</a:t>
            </a:r>
            <a:r>
              <a:t> 7-Tage-Retention, Churn Rate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KPIs für Artikel / Blogposts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Scrolltiefe</a:t>
            </a:r>
          </a:p>
          <a:p>
            <a:pPr lvl="0"/>
            <a:r>
              <a:t>Element Visibility (v. a. CTA / Weiterführende Links)</a:t>
            </a:r>
          </a:p>
          <a:p>
            <a:pPr lvl="0"/>
            <a:r>
              <a:t>SERP-Klickrate</a:t>
            </a:r>
          </a:p>
          <a:p>
            <a:pPr lvl="0"/>
            <a:r>
              <a:t>Returning Visitor Rate</a:t>
            </a:r>
          </a:p>
          <a:p>
            <a:pPr lvl="0"/>
            <a:r>
              <a:t>Shares / Saves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KPIs für Videos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Play Rate</a:t>
            </a:r>
          </a:p>
          <a:p>
            <a:pPr lvl="0"/>
            <a:r>
              <a:t>Average Watch Time</a:t>
            </a:r>
          </a:p>
          <a:p>
            <a:pPr lvl="0"/>
            <a:r>
              <a:t>Completion Rate</a:t>
            </a:r>
          </a:p>
          <a:p>
            <a:pPr lvl="0"/>
            <a:r>
              <a:t>Drop-off Points</a:t>
            </a:r>
          </a:p>
          <a:p>
            <a:pPr lvl="0"/>
            <a:r>
              <a:t>CTA-Klick nach Videoende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KPIs für PDFs / Whitepaper / Downloads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Formularstart</a:t>
            </a:r>
          </a:p>
          <a:p>
            <a:pPr lvl="0"/>
            <a:r>
              <a:t>Formularabschluss</a:t>
            </a:r>
          </a:p>
          <a:p>
            <a:pPr lvl="0"/>
            <a:r>
              <a:t>Download Rate</a:t>
            </a:r>
          </a:p>
          <a:p>
            <a:pPr lvl="0"/>
            <a:r>
              <a:t>Assisted Conversions</a:t>
            </a:r>
          </a:p>
          <a:p>
            <a:pPr lvl="0"/>
            <a:r>
              <a:t>Sichtbarkeit der Download-Box (Element Visibility)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KPIs für interaktive Inhalte (Quiz, Tools, Rechner)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Task Success Rate</a:t>
            </a:r>
          </a:p>
          <a:p>
            <a:pPr lvl="0"/>
            <a:r>
              <a:t>Feature Usage</a:t>
            </a:r>
          </a:p>
          <a:p>
            <a:pPr lvl="0"/>
            <a:r>
              <a:t>Interaktionen (Tabs, Buttons, Module)</a:t>
            </a:r>
          </a:p>
          <a:p>
            <a:pPr lvl="0"/>
            <a:r>
              <a:t>Conversion nach Nutzung</a:t>
            </a:r>
          </a:p>
          <a:p>
            <a:pPr lvl="0"/>
            <a:r>
              <a:t>Time on Task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KPIs für App-Features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DAU/WAU</a:t>
            </a:r>
          </a:p>
          <a:p>
            <a:pPr lvl="0"/>
            <a:r>
              <a:t>Feature Usage Events</a:t>
            </a:r>
          </a:p>
          <a:p>
            <a:pPr lvl="0"/>
            <a:r>
              <a:t>Onboarding Completion</a:t>
            </a:r>
          </a:p>
          <a:p>
            <a:pPr lvl="0"/>
            <a:r>
              <a:t>Retention (Day 1 / 7 / 30)</a:t>
            </a:r>
          </a:p>
          <a:p>
            <a:pPr lvl="0"/>
            <a:r>
              <a:t>Churn Rate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KPIs für Newsletter / E-Mails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Open Rate</a:t>
            </a:r>
          </a:p>
          <a:p>
            <a:pPr lvl="0"/>
            <a:r>
              <a:t>Click Rate</a:t>
            </a:r>
          </a:p>
          <a:p>
            <a:pPr lvl="0"/>
            <a:r>
              <a:t>Unsubscribe Rate</a:t>
            </a:r>
          </a:p>
          <a:p>
            <a:pPr lvl="0"/>
            <a:r>
              <a:t>Conversion Rate (z. B. Download, Anmeldung)</a:t>
            </a:r>
          </a:p>
          <a:p>
            <a:pPr lvl="0"/>
            <a:r>
              <a:t>Deep-Link Engagement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Fallstricke bei der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„Mehr Traffic“ ist kein sinnvolles Ziel</a:t>
            </a:r>
          </a:p>
          <a:p>
            <a:pPr lvl="0"/>
            <a:r>
              <a:t>Verweildauer kann sowohl positive als auch negative Gründe haben</a:t>
            </a:r>
          </a:p>
          <a:p>
            <a:pPr lvl="0"/>
            <a:r>
              <a:t>Scrolltiefe ≠ qualitatives Lesen</a:t>
            </a:r>
          </a:p>
          <a:p>
            <a:pPr lvl="0"/>
            <a:r>
              <a:t>Event-Implementierung muss sauber sein (Schwellen, Debounce, Deduplikation)</a:t>
            </a:r>
          </a:p>
          <a:p>
            <a:pPr lvl="0"/>
            <a:r>
              <a:t>Attribution beeinflusst Ergebnisse stärker als erwartet</a:t>
            </a:r>
          </a:p>
          <a:p>
            <a:pPr lvl="0"/>
            <a:r>
              <a:t>Kleine Stichproben &gt;&gt; keine belastbaren Schlüsse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Machine Learning-Modell auf Basis von Scrolltiefe</a:t>
            </a:r>
          </a:p>
        </p:txBody>
      </p:sp>
      <p:pic>
        <p:nvPicPr>
          <p:cNvPr id="3" name="Picture 1" descr="images/model_vs_data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28800" y="1193800"/>
            <a:ext cx="5499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Machine Learning-Modell auf Basis von Scrolltiefe</a:t>
            </a:r>
          </a:p>
        </p:txBody>
      </p:sp>
      <p:pic>
        <p:nvPicPr>
          <p:cNvPr id="3" name="Picture 1" descr="images/page_heatmap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1193800"/>
            <a:ext cx="2057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Übung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Für Ihre eigenen digitalen Inhalte:</a:t>
            </a:r>
            <a:br/>
            <a:r>
              <a:t>1 Outcome</a:t>
            </a:r>
            <a:br/>
            <a:r>
              <a:t>2 Conversions</a:t>
            </a:r>
            <a:br/>
            <a:r>
              <a:t>3 Micro-Conversions definieren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>
              <a:buNone/>
            </a:pPr>
            <a:r>
              <a:t>Sitzung 7: A/B Testing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>
              <a:buNone/>
            </a:pPr>
            <a:r>
              <a:t>Sitzung 8: Data Mining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Was ist Data Mining?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Warum Data Mining?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Assoziationsanalyse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Naive Bayes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>
              <a:buNone/>
            </a:pPr>
            <a:r>
              <a:t>Sitzung 9: Datenvisualisierung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>
              <a:buNone/>
            </a:pPr>
            <a:r>
              <a:t>Sitzung 10: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>
              <a:buNone/>
            </a:pPr>
            <a:r>
              <a:t>Sitzung 11: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>
              <a:buNone/>
            </a:pPr>
            <a:r>
              <a:t>Sitzung 12: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>
              <a:buNone/>
            </a:pPr>
            <a:r>
              <a:t>Sitzung 13: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2178</Words>
  <Application>Microsoft Macintosh PowerPoint</Application>
  <PresentationFormat>Bildschirmpräsentation (16:9)</PresentationFormat>
  <Paragraphs>341</Paragraphs>
  <Slides>106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106</vt:i4>
      </vt:variant>
    </vt:vector>
  </HeadingPairs>
  <TitlesOfParts>
    <vt:vector size="109" baseType="lpstr">
      <vt:lpstr>Arial</vt:lpstr>
      <vt:lpstr>Calibri</vt:lpstr>
      <vt:lpstr>Office Theme</vt:lpstr>
      <vt:lpstr>Konzeption Digitaler Inhalte</vt:lpstr>
      <vt:lpstr>Sitzung 1: Einführung, Organisatorisches und Grundlage</vt:lpstr>
      <vt:lpstr>Aus dem Modulhandbuch</vt:lpstr>
      <vt:lpstr>Aus dem Modulhandbuch, continued</vt:lpstr>
      <vt:lpstr>Kursziele</vt:lpstr>
      <vt:lpstr>Prüfungsleistung</vt:lpstr>
      <vt:lpstr>Logistik</vt:lpstr>
      <vt:lpstr>Definitionen: Was sind digitale Inhalte, Daten- und Medienprodukte?</vt:lpstr>
      <vt:lpstr>Definitionen: Was sind “innovative Gestaltungsformate”?</vt:lpstr>
      <vt:lpstr>Was bedeutet “überprüfbar erreichen”?</vt:lpstr>
      <vt:lpstr>Was bedeutet…</vt:lpstr>
      <vt:lpstr>Was sind Daten überhaupt?</vt:lpstr>
      <vt:lpstr>Datenkompetenz nach Ridsdale et al</vt:lpstr>
      <vt:lpstr>DIKW-Pyramide</vt:lpstr>
      <vt:lpstr>Toms Pyramide</vt:lpstr>
      <vt:lpstr>Relevanz in der Aufmerksamkeitsökonomie</vt:lpstr>
      <vt:lpstr>Wie können wir Daten nutzen, um Relevanz zu erzeugen?</vt:lpstr>
      <vt:lpstr>Beispiel: Newsletter</vt:lpstr>
      <vt:lpstr>Wie funktioniert Data Mining?</vt:lpstr>
      <vt:lpstr>Data Mining-Sprachen und -Systeme</vt:lpstr>
      <vt:lpstr>Welche Inhalte wünschen Sie sich noch?</vt:lpstr>
      <vt:lpstr>Nächste Schritte</vt:lpstr>
      <vt:lpstr>Sitzung 2: Daten-Akquise und -Überprüfung</vt:lpstr>
      <vt:lpstr>Datenquellen: Primärdaten</vt:lpstr>
      <vt:lpstr>Datenquellen: Sekundärdaten</vt:lpstr>
      <vt:lpstr>Fragen zur Datenqualität</vt:lpstr>
      <vt:lpstr>Reliabilität &amp; Validität</vt:lpstr>
      <vt:lpstr>Häufige Probleme bei Stichproben</vt:lpstr>
      <vt:lpstr>Website-Umfrage</vt:lpstr>
      <vt:lpstr>Umfrage vor Weiterleitung</vt:lpstr>
      <vt:lpstr>Soziale Erwünschtheit</vt:lpstr>
      <vt:lpstr>Glauben Sie das?</vt:lpstr>
      <vt:lpstr>Wie waren die Fragen eigentlich gestellt?</vt:lpstr>
      <vt:lpstr>Wie kommt es zu dem Ergebnis?</vt:lpstr>
      <vt:lpstr>Beispiele für Umfrageverzerrungen</vt:lpstr>
      <vt:lpstr>Weitere typische Verzerrungen</vt:lpstr>
      <vt:lpstr>Der Bestätigungsfehler (Confirmation Bias)</vt:lpstr>
      <vt:lpstr>Survivorship Bias</vt:lpstr>
      <vt:lpstr>Survivorship Bias</vt:lpstr>
      <vt:lpstr>Stichprobenverzerrung</vt:lpstr>
      <vt:lpstr>Stichprobenverzerrung</vt:lpstr>
      <vt:lpstr>Fallbeispiel: Der Fehler der Literary Digest-Umfrage (1936)</vt:lpstr>
      <vt:lpstr>Stichprobenverzerrung</vt:lpstr>
      <vt:lpstr>Gegenmaßnahmen</vt:lpstr>
      <vt:lpstr>Stratifizierung</vt:lpstr>
      <vt:lpstr>Nächste Schritte</vt:lpstr>
      <vt:lpstr>Sitzung 3: Lean Content Strategy Canvas</vt:lpstr>
      <vt:lpstr>Bitte beachten Sie die Templates im Moodle</vt:lpstr>
      <vt:lpstr>Sitzung 4: Besprechung Canvases</vt:lpstr>
      <vt:lpstr>Review der Canvases aus Session 3</vt:lpstr>
      <vt:lpstr>Sitzung 5: Wie kommen Nutzer zu meinen Inhalten?</vt:lpstr>
      <vt:lpstr>Wie finden Nutzer meine Inhalte?</vt:lpstr>
      <vt:lpstr>Push vs. Pull</vt:lpstr>
      <vt:lpstr>Owned / Earned / Paid Media</vt:lpstr>
      <vt:lpstr>Wie wird man Influencer? (aus letzter Session)</vt:lpstr>
      <vt:lpstr>Inhalte als Lead-Magnet</vt:lpstr>
      <vt:lpstr>Das LIFT-Modell</vt:lpstr>
      <vt:lpstr>Die neue Herausforderung: AEO &amp; GEO</vt:lpstr>
      <vt:lpstr>Der Alligator</vt:lpstr>
      <vt:lpstr>Real Estate geht verloren</vt:lpstr>
      <vt:lpstr>Real Estate geht verloren</vt:lpstr>
      <vt:lpstr>Real Estate geht verloren</vt:lpstr>
      <vt:lpstr>Real Estate geht verloren</vt:lpstr>
      <vt:lpstr>Real Estate geht verloren</vt:lpstr>
      <vt:lpstr>Nutzerverhalten 2024–2025</vt:lpstr>
      <vt:lpstr>Diskussion: Wo liegt meine Audience?</vt:lpstr>
      <vt:lpstr>Nächste Schritte</vt:lpstr>
      <vt:lpstr>Sitzung 6: Erfolgsmessung</vt:lpstr>
      <vt:lpstr>Warum Erfolgsmessung?</vt:lpstr>
      <vt:lpstr>Ziele (Business Outcomes)</vt:lpstr>
      <vt:lpstr>Conversions (Content-Abschlüsse)</vt:lpstr>
      <vt:lpstr>Micro-Conversions (Frühindikatoren)</vt:lpstr>
      <vt:lpstr>Keine guten KPIs</vt:lpstr>
      <vt:lpstr>Scrolltiefe</vt:lpstr>
      <vt:lpstr>Element Visibility</vt:lpstr>
      <vt:lpstr>Tools: Matomo</vt:lpstr>
      <vt:lpstr>Tools: Google Analytics</vt:lpstr>
      <vt:lpstr>KPIs: Reichweite</vt:lpstr>
      <vt:lpstr>KPIs: Engagement</vt:lpstr>
      <vt:lpstr>KPIs: Interaktion (Micro-Conversions)</vt:lpstr>
      <vt:lpstr>KPIs: Conversion</vt:lpstr>
      <vt:lpstr>KPIs: Qualität &amp; Stabilität (App)</vt:lpstr>
      <vt:lpstr>KPIs: Bindung &amp; Churn</vt:lpstr>
      <vt:lpstr>KPI vs. Ziel: Was ist der Unterschied?</vt:lpstr>
      <vt:lpstr>Beispiele für Ziele und passende KPIs</vt:lpstr>
      <vt:lpstr>KPIs für Artikel / Blogposts</vt:lpstr>
      <vt:lpstr>KPIs für Videos</vt:lpstr>
      <vt:lpstr>KPIs für PDFs / Whitepaper / Downloads</vt:lpstr>
      <vt:lpstr>KPIs für interaktive Inhalte (Quiz, Tools, Rechner)</vt:lpstr>
      <vt:lpstr>KPIs für App-Features</vt:lpstr>
      <vt:lpstr>KPIs für Newsletter / E-Mails</vt:lpstr>
      <vt:lpstr>Fallstricke bei der Interpretation</vt:lpstr>
      <vt:lpstr>Machine Learning-Modell auf Basis von Scrolltiefe</vt:lpstr>
      <vt:lpstr>Machine Learning-Modell auf Basis von Scrolltiefe</vt:lpstr>
      <vt:lpstr>Übung</vt:lpstr>
      <vt:lpstr>Sitzung 7: A/B Testing</vt:lpstr>
      <vt:lpstr>Sitzung 8: Data Mining</vt:lpstr>
      <vt:lpstr>Was ist Data Mining?</vt:lpstr>
      <vt:lpstr>Warum Data Mining?</vt:lpstr>
      <vt:lpstr>Assoziationsanalyse</vt:lpstr>
      <vt:lpstr>Naive Bayes</vt:lpstr>
      <vt:lpstr>Sitzung 9: Datenvisualisierung</vt:lpstr>
      <vt:lpstr>Sitzung 10:</vt:lpstr>
      <vt:lpstr>Sitzung 11:</vt:lpstr>
      <vt:lpstr>Sitzung 12:</vt:lpstr>
      <vt:lpstr>Sitzung 13: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Konzeption Digitaler Inhalte</dc:title>
  <dc:creator>Dr. Tom Alby</dc:creator>
  <cp:keywords/>
  <cp:lastModifiedBy>Alby, Tom</cp:lastModifiedBy>
  <cp:revision>1</cp:revision>
  <dcterms:created xsi:type="dcterms:W3CDTF">2025-11-28T12:52:47Z</dcterms:created>
  <dcterms:modified xsi:type="dcterms:W3CDTF">2025-11-28T12:53:05Z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2025-11-28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institute">
    <vt:lpwstr>“HAW Hamburg”</vt:lpwstr>
  </property>
  <property fmtid="{D5CDD505-2E9C-101B-9397-08002B2CF9AE}" pid="12" name="institutes">
    <vt:lpwstr/>
  </property>
  <property fmtid="{D5CDD505-2E9C-101B-9397-08002B2CF9AE}" pid="13" name="labels">
    <vt:lpwstr/>
  </property>
  <property fmtid="{D5CDD505-2E9C-101B-9397-08002B2CF9AE}" pid="14" name="slide-number">
    <vt:lpwstr>True</vt:lpwstr>
  </property>
  <property fmtid="{D5CDD505-2E9C-101B-9397-08002B2CF9AE}" pid="15" name="toc-title">
    <vt:lpwstr>Table of contents</vt:lpwstr>
  </property>
  <property fmtid="{D5CDD505-2E9C-101B-9397-08002B2CF9AE}" pid="16" name="MSIP_Label_defa4170-0d19-0005-0004-bc88714345d2_Enabled">
    <vt:lpwstr>true</vt:lpwstr>
  </property>
  <property fmtid="{D5CDD505-2E9C-101B-9397-08002B2CF9AE}" pid="17" name="MSIP_Label_defa4170-0d19-0005-0004-bc88714345d2_SetDate">
    <vt:lpwstr>2025-11-28T12:53:05Z</vt:lpwstr>
  </property>
  <property fmtid="{D5CDD505-2E9C-101B-9397-08002B2CF9AE}" pid="18" name="MSIP_Label_defa4170-0d19-0005-0004-bc88714345d2_Method">
    <vt:lpwstr>Standard</vt:lpwstr>
  </property>
  <property fmtid="{D5CDD505-2E9C-101B-9397-08002B2CF9AE}" pid="19" name="MSIP_Label_defa4170-0d19-0005-0004-bc88714345d2_Name">
    <vt:lpwstr>defa4170-0d19-0005-0004-bc88714345d2</vt:lpwstr>
  </property>
  <property fmtid="{D5CDD505-2E9C-101B-9397-08002B2CF9AE}" pid="20" name="MSIP_Label_defa4170-0d19-0005-0004-bc88714345d2_SiteId">
    <vt:lpwstr>2c6cac8d-ab61-47b3-8209-4df2e46aefbc</vt:lpwstr>
  </property>
  <property fmtid="{D5CDD505-2E9C-101B-9397-08002B2CF9AE}" pid="21" name="MSIP_Label_defa4170-0d19-0005-0004-bc88714345d2_ActionId">
    <vt:lpwstr>465996af-0330-42d6-89a1-3a9c2de179f9</vt:lpwstr>
  </property>
  <property fmtid="{D5CDD505-2E9C-101B-9397-08002B2CF9AE}" pid="22" name="MSIP_Label_defa4170-0d19-0005-0004-bc88714345d2_ContentBits">
    <vt:lpwstr>0</vt:lpwstr>
  </property>
  <property fmtid="{D5CDD505-2E9C-101B-9397-08002B2CF9AE}" pid="23" name="MSIP_Label_defa4170-0d19-0005-0004-bc88714345d2_Tag">
    <vt:lpwstr>50, 3, 0, 1</vt:lpwstr>
  </property>
</Properties>
</file>